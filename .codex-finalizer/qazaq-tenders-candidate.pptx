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1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99f436614354be2" /><Relationship Type="http://schemas.openxmlformats.org/officeDocument/2006/relationships/extended-properties" Target="/docProps/app.xml" Id="Rb6a05017cbb549de" /><Relationship Type="http://schemas.openxmlformats.org/officeDocument/2006/relationships/officeDocument" Target="/ppt/presentation.xml" Id="Rbacdb9c119d3440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a87ecfd036841d6"/>
  </p:sldMasterIdLst>
  <p:notesMasterIdLst>
    <p:notesMasterId xmlns:r="http://schemas.openxmlformats.org/officeDocument/2006/relationships" r:id="R1e59e1b8ffa548b5"/>
  </p:notesMasterIdLst>
  <p:sldIdLst>
    <p:sldId xmlns:r="http://schemas.openxmlformats.org/officeDocument/2006/relationships" id="256" r:id="R2c88c7dad527496d"/>
    <p:sldId xmlns:r="http://schemas.openxmlformats.org/officeDocument/2006/relationships" id="257" r:id="Re6b6015278074998"/>
    <p:sldId xmlns:r="http://schemas.openxmlformats.org/officeDocument/2006/relationships" id="258" r:id="Rfb2f7c77b13a44bf"/>
    <p:sldId xmlns:r="http://schemas.openxmlformats.org/officeDocument/2006/relationships" id="259" r:id="Rafe9b18827314852"/>
    <p:sldId xmlns:r="http://schemas.openxmlformats.org/officeDocument/2006/relationships" id="260" r:id="R10e86072547c4d0b"/>
    <p:sldId xmlns:r="http://schemas.openxmlformats.org/officeDocument/2006/relationships" id="261" r:id="R246ef61e72e2427e"/>
    <p:sldId xmlns:r="http://schemas.openxmlformats.org/officeDocument/2006/relationships" id="262" r:id="R85af85294a8d4375"/>
    <p:sldId xmlns:r="http://schemas.openxmlformats.org/officeDocument/2006/relationships" id="263" r:id="R7804072753db47e5"/>
    <p:sldId xmlns:r="http://schemas.openxmlformats.org/officeDocument/2006/relationships" id="264" r:id="R361d5f8ba97b4d2b"/>
    <p:sldId xmlns:r="http://schemas.openxmlformats.org/officeDocument/2006/relationships" id="265" r:id="Rcbf077e44ad6435b"/>
    <p:sldId xmlns:r="http://schemas.openxmlformats.org/officeDocument/2006/relationships" id="266" r:id="R039697725e394fd7"/>
    <p:sldId xmlns:r="http://schemas.openxmlformats.org/officeDocument/2006/relationships" id="267" r:id="Re9450760c808418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2b86d30d5224481" /><Relationship Type="http://schemas.openxmlformats.org/officeDocument/2006/relationships/slideMaster" Target="/ppt/slideMasters/slideMaster1.xml" Id="Rba87ecfd036841d6" /><Relationship Type="http://schemas.openxmlformats.org/officeDocument/2006/relationships/notesMaster" Target="/ppt/notesMasters/notesMaster1.xml" Id="R1e59e1b8ffa548b5" /><Relationship Type="http://schemas.openxmlformats.org/officeDocument/2006/relationships/presProps" Target="/ppt/presProps.xml" Id="R84269c5d737f4ffd" /><Relationship Type="http://schemas.openxmlformats.org/officeDocument/2006/relationships/tableStyles" Target="/ppt/tableStyles.xml" Id="Re84c2245f61d4f86" /><Relationship Type="http://schemas.openxmlformats.org/officeDocument/2006/relationships/slide" Target="/ppt/slides/slide1.xml" Id="R2c88c7dad527496d" /><Relationship Type="http://schemas.openxmlformats.org/officeDocument/2006/relationships/slide" Target="/ppt/slides/slide2.xml" Id="Re6b6015278074998" /><Relationship Type="http://schemas.openxmlformats.org/officeDocument/2006/relationships/slide" Target="/ppt/slides/slide3.xml" Id="Rfb2f7c77b13a44bf" /><Relationship Type="http://schemas.openxmlformats.org/officeDocument/2006/relationships/slide" Target="/ppt/slides/slide4.xml" Id="Rafe9b18827314852" /><Relationship Type="http://schemas.openxmlformats.org/officeDocument/2006/relationships/slide" Target="/ppt/slides/slide5.xml" Id="R10e86072547c4d0b" /><Relationship Type="http://schemas.openxmlformats.org/officeDocument/2006/relationships/slide" Target="/ppt/slides/slide6.xml" Id="R246ef61e72e2427e" /><Relationship Type="http://schemas.openxmlformats.org/officeDocument/2006/relationships/slide" Target="/ppt/slides/slide7.xml" Id="R85af85294a8d4375" /><Relationship Type="http://schemas.openxmlformats.org/officeDocument/2006/relationships/slide" Target="/ppt/slides/slide8.xml" Id="R7804072753db47e5" /><Relationship Type="http://schemas.openxmlformats.org/officeDocument/2006/relationships/slide" Target="/ppt/slides/slide9.xml" Id="R361d5f8ba97b4d2b" /><Relationship Type="http://schemas.openxmlformats.org/officeDocument/2006/relationships/slide" Target="/ppt/slides/slide10.xml" Id="Rcbf077e44ad6435b" /><Relationship Type="http://schemas.openxmlformats.org/officeDocument/2006/relationships/slide" Target="/ppt/slides/slide11.xml" Id="R039697725e394fd7" /><Relationship Type="http://schemas.openxmlformats.org/officeDocument/2006/relationships/slide" Target="/ppt/slides/slide12.xml" Id="Re9450760c808418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d337857ae7f44c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1ddb3481f5f430d" /><Relationship Type="http://schemas.openxmlformats.org/officeDocument/2006/relationships/notesMaster" Target="/ppt/notesMasters/notesMaster1.xml" Id="R1725d5a951fe404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8cafb9344a5451d" /><Relationship Type="http://schemas.openxmlformats.org/officeDocument/2006/relationships/notesMaster" Target="/ppt/notesMasters/notesMaster1.xml" Id="R70478dcd89e1478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8c1a00da95041cb" /><Relationship Type="http://schemas.openxmlformats.org/officeDocument/2006/relationships/notesMaster" Target="/ppt/notesMasters/notesMaster1.xml" Id="Rbfe29e8428e441c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74e4cbb116c4dce" /><Relationship Type="http://schemas.openxmlformats.org/officeDocument/2006/relationships/notesMaster" Target="/ppt/notesMasters/notesMaster1.xml" Id="Rb5f6a1c956f9426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d000ca924a346c2" /><Relationship Type="http://schemas.openxmlformats.org/officeDocument/2006/relationships/notesMaster" Target="/ppt/notesMasters/notesMaster1.xml" Id="R6c86636b4f0e467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ede34f369094aed" /><Relationship Type="http://schemas.openxmlformats.org/officeDocument/2006/relationships/notesMaster" Target="/ppt/notesMasters/notesMaster1.xml" Id="R93d5327836954c8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309e80127ff425e" /><Relationship Type="http://schemas.openxmlformats.org/officeDocument/2006/relationships/notesMaster" Target="/ppt/notesMasters/notesMaster1.xml" Id="R07fee3c27b72457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a9377ebd231478b" /><Relationship Type="http://schemas.openxmlformats.org/officeDocument/2006/relationships/notesMaster" Target="/ppt/notesMasters/notesMaster1.xml" Id="R9d5c10ff8d26457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0ce5f6c885a4c40" /><Relationship Type="http://schemas.openxmlformats.org/officeDocument/2006/relationships/notesMaster" Target="/ppt/notesMasters/notesMaster1.xml" Id="R75043f3f34ac4d4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c79d805528d410c" /><Relationship Type="http://schemas.openxmlformats.org/officeDocument/2006/relationships/notesMaster" Target="/ppt/notesMasters/notesMaster1.xml" Id="R2dd51155fe5d47d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18fd2325b924875" /><Relationship Type="http://schemas.openxmlformats.org/officeDocument/2006/relationships/notesMaster" Target="/ppt/notesMasters/notesMaster1.xml" Id="R29ca6e51501d4c6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6501ef2e2044751" /><Relationship Type="http://schemas.openxmlformats.org/officeDocument/2006/relationships/notesMaster" Target="/ppt/notesMasters/notesMaster1.xml" Id="Ref2094bf8a6d49c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Қайырлы күн, құрметті қазылар алқасы! Qazaq Tenders кәсіпкерге тендердің пайдасын, тәуекелін және қажетті айналым қаражатын алдын ала бағалауға көмектеседі.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Алдымен мәселені көрсетемін, одан кейін жүйенің жұмысын, формулаларын және нақты есептік сценарийді түсіндіремін.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Қазақстанда 2,17 миллион белсенді ШОБ субъектісі бар, ал олардың ЖІӨ-дегі үлесі 40,9 пайыз. Сондықтан мемлекеттік сатып алудағы шешім сапасы экономика үшін маңызды.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Жалпы тендер сомасы кәсіпкердің нақты табысын көрсетпейді. Салық, банк комиссиясы, логистика және төлем мерзімі бірге есептелуі керек.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Пайдаланушы тендерді ашады. Жүйе құжатты оқып, есепті бірден жасайды. Өз жағдайы өзгеше болса, сатып алу бағасын, авансты немесе көлік түрін бір батырмамен өзгертеді.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 қабаты құжаттан деректерді шығарады. Ол пайда санын ойдан шығармайды. Барлық ақша көрсеткішін жеке экономикалық қозғалтқыш есептейді.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TOS шешімді төрт өлшем арқылы көрсетеді. Салмақтар бастапқы сараптамалық параметрлер. Кейін оларды аяқталған келісімшарттардың деректерімен калибрлеу қажет.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Жүйе нақты факт пен болжамды мәнді араластырмайды. Confidence Level 95 пайыз болса, бұл деректердің басым бөлігі тексерілгенін білдіреді, экономикалық нәтиженің 95 пайыз дәлдігін емес.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Көлік түрін өзгерткенде логистика шығыны ғана емес, жеткізу мерзімі, кешігу қаупі және ақша ағыны да өзгереді.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Аванссыз автоматты сценарийде пайда 14,55 миллион теңге, бірақ кассалық тапшылық 13,19 миллион теңге. 30 пайыз аванс тапшылықты жойып, TOS көрсеткішін 73,4 балға көтереді.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450 автоматтандырылған тест есептеу қозғалтқышының тұрақтылығын тексереді. Бірақ бұл 95 пайыздық экономикалық болжам дәлелденді деген мәлімдеме емес.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Жүйе кәсіпкердің орнына шешім қабылдамайды. Ол шешімнің салдарын алдын ала көруге мүмкіндік береді. Назарларыңызға рақмет, сұрақтарыңызға жауап беруге дайынмын.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e3c996e7e7413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a9dc17b378b484b" /><Relationship Type="http://schemas.openxmlformats.org/officeDocument/2006/relationships/slideLayout" Target="/ppt/slideLayouts/slideLayout1.xml" Id="R9450605bce4f427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450605bce4f427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dc000afdd44108" /><Relationship Type="http://schemas.openxmlformats.org/officeDocument/2006/relationships/notesSlide" Target="/ppt/notesSlides/notesSlide1.xml" Id="R4e7e40e1bf6f41a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1e4ddffb494c5e" /><Relationship Type="http://schemas.openxmlformats.org/officeDocument/2006/relationships/notesSlide" Target="/ppt/notesSlides/notesSlide2.xml" Id="R060e6c87fc50434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4d29ac88f943bc" /><Relationship Type="http://schemas.openxmlformats.org/officeDocument/2006/relationships/notesSlide" Target="/ppt/notesSlides/notesSlide3.xml" Id="Re9004d8e6b0c420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97e48c3600428e" /><Relationship Type="http://schemas.openxmlformats.org/officeDocument/2006/relationships/notesSlide" Target="/ppt/notesSlides/notesSlide4.xml" Id="Rfe0d9661ec30489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f02dd0a2da4be5" /><Relationship Type="http://schemas.openxmlformats.org/officeDocument/2006/relationships/notesSlide" Target="/ppt/notesSlides/notesSlide5.xml" Id="R521684c991ed484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2ec7088f8a43e4" /><Relationship Type="http://schemas.openxmlformats.org/officeDocument/2006/relationships/notesSlide" Target="/ppt/notesSlides/notesSlide6.xml" Id="R6f7584dada76433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c3597d4e634882" /><Relationship Type="http://schemas.openxmlformats.org/officeDocument/2006/relationships/notesSlide" Target="/ppt/notesSlides/notesSlide7.xml" Id="R05d48392fda244e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c6f666f0944485" /><Relationship Type="http://schemas.openxmlformats.org/officeDocument/2006/relationships/notesSlide" Target="/ppt/notesSlides/notesSlide8.xml" Id="R2f36c748b38446c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5c30729a0b4541" /><Relationship Type="http://schemas.openxmlformats.org/officeDocument/2006/relationships/notesSlide" Target="/ppt/notesSlides/notesSlide9.xml" Id="Re93c6bdcd0e0400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fe0154e95640bc" /><Relationship Type="http://schemas.openxmlformats.org/officeDocument/2006/relationships/chart" Target="/ppt/slides/charts/chart1.xml" Id="R40b4bb63d4d14a0b" /><Relationship Type="http://schemas.openxmlformats.org/officeDocument/2006/relationships/notesSlide" Target="/ppt/notesSlides/notesSlide10.xml" Id="Re38dfde16e4240d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26941f7f9c41a7" /><Relationship Type="http://schemas.openxmlformats.org/officeDocument/2006/relationships/notesSlide" Target="/ppt/notesSlides/notesSlide11.xml" Id="R31f8b092c3ff46b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e68cc046c24743" /><Relationship Type="http://schemas.openxmlformats.org/officeDocument/2006/relationships/notesSlide" Target="/ppt/notesSlides/notesSlide12.xml" Id="R4fd7e3b5b527404c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TOS</c:v>
          </c:tx>
          <c:spPr>
            <a:solidFill xmlns:a="http://schemas.openxmlformats.org/drawingml/2006/main">
              <a:srgbClr val="5CFF67"/>
            </a:solidFill>
          </c:spPr>
          <c:cat>
            <c:strLit>
              <c:ptCount val="5"/>
              <c:pt idx="0">
                <c:v>Автоматты</c:v>
              </c:pt>
              <c:pt idx="1">
                <c:v>Автофура</c:v>
              </c:pt>
              <c:pt idx="2">
                <c:v>Теміржол</c:v>
              </c:pt>
              <c:pt idx="3">
                <c:v>Авиа</c:v>
              </c:pt>
              <c:pt idx="4">
                <c:v>30% аванс</c:v>
              </c:pt>
            </c:strLit>
          </c:cat>
          <c:val>
            <c:numLit>
              <c:formatCode>General</c:formatCode>
              <c:ptCount val="5"/>
              <c:pt idx="0">
                <c:v>62.7</c:v>
              </c:pt>
              <c:pt idx="1">
                <c:v>60.6</c:v>
              </c:pt>
              <c:pt idx="2">
                <c:v>62</c:v>
              </c:pt>
              <c:pt idx="3">
                <c:v>41.5</c:v>
              </c:pt>
              <c:pt idx="4">
                <c:v>73.4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Between val="between"/>
      </c:valAx>
    </c:plotArea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4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33D3C0-D87A-4986-91E0-8890F9468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5810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4950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4950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QAZAQ</a:t>
            </a:r>
          </a:p>
          <a:p xmlns:a="http://schemas.openxmlformats.org/drawingml/2006/main">
            <a:pPr>
              <a:defRPr sz="4950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4950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TENDERS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E12DF5-F38F-4237-8709-E73CBDD6B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05150"/>
            <a:ext cx="695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BFFFC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BFFFC5"/>
                </a:solidFill>
                <a:latin typeface="Helvetica Neue"/>
                <a:ea typeface="Helvetica Neue"/>
                <a:cs typeface="Helvetica Neue"/>
              </a:rPr>
              <a:t>Шағын және орта бизнеске мемлекеттік сатып алудың экономикалық тиімділігін бағалайтын интеллектуалды платформа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FB95BB-3482-4E7E-82C2-FC1D474DB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4350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Нұрали Байбосынов  |  11A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C661FF-5F37-40D3-ADC9-394206971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5785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CFF6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FF67"/>
                </a:solidFill>
                <a:latin typeface="Helvetica Neue"/>
                <a:ea typeface="Helvetica Neue"/>
                <a:cs typeface="Helvetica Neue"/>
              </a:rPr>
              <a:t>www.qazaqtenders.kz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A320C5-9152-4023-928E-561199016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5619750"/>
            <a:ext cx="114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A8B8B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A8B8B0"/>
                </a:solidFill>
                <a:latin typeface="Helvetica Neue"/>
                <a:ea typeface="Helvetica Neue"/>
                <a:cs typeface="Helvetica Neue"/>
              </a:rPr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12892731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4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41D974-5475-464B-8DEA-3CB7715E5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rPr>
              <a:t>Qazaq Tenders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E8C915-110B-406A-9B09-BD2462EA9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A8B8B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A8B8B0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4DC4F0-C047-4140-AF1D-5694821CA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Бүгінгі жоспар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4F9487-5F97-492B-96C8-A556CB1C6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49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7C615A-6906-495C-A34A-6BAA8FFE5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1628775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Өзектілік және мәселе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716641-D735-49CF-98DF-12FF74D4D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57425"/>
            <a:ext cx="49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F5AD61-E25E-436E-9EA6-238E8AE15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219325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Qazaq Tenders шешімі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0D0F09-C207-4A3F-875A-39F538025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47975"/>
            <a:ext cx="49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F0BB48-FDD3-4CEA-994D-E81C6EEC1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809875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Жүйе архитектурасы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6E4E86-D123-4573-B4E7-C4A9DDF09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38525"/>
            <a:ext cx="49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0B9B4D-D0EB-47A1-A16E-568323224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400425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Экономикалық модель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23A915-8212-466F-BB61-7A506AC2C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29075"/>
            <a:ext cx="49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FC1194-9B0D-4635-BD0E-4C2C8B942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990975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Логистика және жеткізушілер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4FC4CD-F62B-4AD3-89D0-B917E5DFF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9625"/>
            <a:ext cx="49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08D31F-AF8C-4EBD-8C0E-D7493ED71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581525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Есептік нәтиже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3F3F35-0A28-46CC-97B0-6A8474FDE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10175"/>
            <a:ext cx="49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8CF7D8-91AC-450E-801D-5178FC7CD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172075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Тексеру және қорытынды</a:t>
            </a:r>
          </a:p>
        </p:txBody>
      </p:sp>
    </p:spTree>
    <p:extLst>
      <p:ext uri="{BB962C8B-B14F-4D97-AF65-F5344CB8AC3E}">
        <p14:creationId xmlns:p14="http://schemas.microsoft.com/office/powerpoint/2010/main" val="27460750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4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A61A6A-97AE-4D9A-9811-49250F12E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rPr>
              <a:t>Qazaq Tenders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B1990E-D3E2-452B-B2EF-0B61CE756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A8B8B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A8B8B0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3D2F56-82A7-48A3-8E3C-618BF8488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Өзектілік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6C21ED-6B10-4D6C-86FA-627E72BAF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3333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defRPr>
            </a:pPr>
            <a:r>
              <a:rPr sz="43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rPr>
              <a:t>2,17 млн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554489-251B-4458-8679-175613DE7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4095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927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Қазақстандағы белсенді ШОБ субъектілері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9E53ED-5F2D-43FC-A9EC-A10EFDD4F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14500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defRPr>
            </a:pPr>
            <a:r>
              <a:rPr sz="43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rPr>
              <a:t>40,9%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EC9F94-6CD9-4758-9ED9-B5E8D7366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71750"/>
            <a:ext cx="342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ШОБ-тың ЖІӨ-дегі үлесі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28ECAC-5BF1-48F6-954B-4F75DC672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10382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Мемлекеттік сатып алу бизнеске үлкен мүмкіндік береді. Бірақ құжаттарды қате түсіну, шығынды толық есептемеу және төлемді күту шағын кәсіпорын үшін нақты қаржылық тәуекел туғызады.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F63D4D-CD8A-4FBA-98FA-83948FEA4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A8B8B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A8B8B0"/>
                </a:solidFill>
                <a:latin typeface="Helvetica Neue"/>
                <a:ea typeface="Helvetica Neue"/>
                <a:cs typeface="Helvetica Neue"/>
              </a:rPr>
              <a:t>Дереккөз: ҚР Ұлттық статистика бюросы, 01.01.2026</a:t>
            </a:r>
          </a:p>
        </p:txBody>
      </p:sp>
    </p:spTree>
    <p:extLst>
      <p:ext uri="{BB962C8B-B14F-4D97-AF65-F5344CB8AC3E}">
        <p14:creationId xmlns:p14="http://schemas.microsoft.com/office/powerpoint/2010/main" val="70552741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4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6E7123-58D6-4977-B2E8-763602AA0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rPr>
              <a:t>Qazaq Tenders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15BB13-C998-4CF8-AF04-5F83B4222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A8B8B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A8B8B0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5FA8FC-5AA1-454A-9FEC-F57D39B72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Кәсіпкердің негізгі тәуекелдері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F50894-D56A-4629-8944-51E30360B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666875"/>
            <a:ext cx="523875" cy="523875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714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71411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0190DD-BD96-4F6B-B652-11AFE8132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600200"/>
            <a:ext cx="3524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Күрделі құжаттар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C3DB09-D4EB-4CAB-A5A4-A5958543C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667000"/>
            <a:ext cx="523875" cy="523875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714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71411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3B4171-3253-4EC9-B891-D79D55C98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600325"/>
            <a:ext cx="3524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Жасырын шығындар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AC95DF-29CD-4EAC-8275-91AC0717B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667125"/>
            <a:ext cx="523875" cy="523875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714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71411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ED9ED2-9004-4F82-86AB-E5AD3E2D1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600450"/>
            <a:ext cx="3524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Кассалық алшақтық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1E3F9F-7E22-45EA-84BB-F93401FFE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667250"/>
            <a:ext cx="523875" cy="523875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714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71411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C1EE3D-CE84-4952-8CC5-D5B486EF4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00575"/>
            <a:ext cx="3524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Арнайы талаптар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C144A9-C57F-4A9D-AC52-32F88427C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809750"/>
            <a:ext cx="50482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BFFFC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BFFFC5"/>
                </a:solidFill>
                <a:latin typeface="Helvetica Neue"/>
                <a:ea typeface="Helvetica Neue"/>
                <a:cs typeface="Helvetica Neue"/>
              </a:rPr>
              <a:t>Техникалық ерекшелік пен шарттардан бір маңызды талаптың жоғалуы өтінімнен бас тартуға әкелуі мүмкін. Пайда оң болғанның өзінде айналым капиталы жеткіліксіз болуы ықтимал.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81BA07-9D5B-481C-9EEA-E89179458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762500"/>
            <a:ext cx="5048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D1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FFD166"/>
                </a:solidFill>
                <a:latin typeface="Helvetica Neue"/>
                <a:ea typeface="Helvetica Neue"/>
                <a:cs typeface="Helvetica Neue"/>
              </a:rPr>
              <a:t>Мәселе: кәсіпкер шешімді толық қаржылық модельсіз қабылдайды</a:t>
            </a:r>
          </a:p>
        </p:txBody>
      </p:sp>
    </p:spTree>
    <p:extLst>
      <p:ext uri="{BB962C8B-B14F-4D97-AF65-F5344CB8AC3E}">
        <p14:creationId xmlns:p14="http://schemas.microsoft.com/office/powerpoint/2010/main" val="161018516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4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EB173A-615F-4640-A6BD-830149790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rPr>
              <a:t>Qazaq Tenders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A8BB91-8000-4AE2-95D8-071D64BB0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A8B8B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A8B8B0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AC6AA6-DEB1-4299-8221-DA6A5312A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Qazaq Tenders шешімі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AED834-6AEC-483E-A72F-287361D5B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668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798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rPr>
              <a:t>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B3F580-8DC8-4BE6-9E06-A93CED284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47825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PDF, DOCX және API деректерін талдау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5503FF-23D7-4D69-AC19-EB5EF494B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3362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798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rPr>
              <a:t>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864E5D-CD12-41FB-91BE-8ED770B27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14575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Техникалық ерекшеліктегі арнайы талаптарды бөлек шығару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E28749-A046-4057-866D-65A1CCBBB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00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798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rPr>
              <a:t>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7337FE-DFE2-4120-9915-4D7D23681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81325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Пайда, маржа және күнделікті Cash Flow есептеу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9FD57C-5A40-4BA4-9386-9EE1B2C6D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6712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798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rPr>
              <a:t>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173799-30D1-40C3-B9D8-1EB541FC0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48075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Көлік пен жеткізуші сценарийлерін бір батырмамен салыстыру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FB64C2-D8CF-40C7-BA42-4F70D25C7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338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798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rPr>
              <a:t>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35F111-89D3-41B8-B757-0523AB970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14825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Нәтижені 0–100 аралығындағы TOS индексімен түсіндіру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C10CA0-DE19-4DF2-AEF2-2472BCDFF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429250"/>
            <a:ext cx="10191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917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BFFFC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BFFFC5"/>
                </a:solidFill>
                <a:latin typeface="Helvetica Neue"/>
                <a:ea typeface="Helvetica Neue"/>
                <a:cs typeface="Helvetica Neue"/>
              </a:rPr>
              <a:t>Пайдаланушы ұзақ форма толтырмайды. Жүйе бастапқы мәндерді өзі ұсынады, ал кәсіпкер оларды бір рет басып түзетеді.</a:t>
            </a:r>
          </a:p>
        </p:txBody>
      </p:sp>
    </p:spTree>
    <p:extLst>
      <p:ext uri="{BB962C8B-B14F-4D97-AF65-F5344CB8AC3E}">
        <p14:creationId xmlns:p14="http://schemas.microsoft.com/office/powerpoint/2010/main" val="130134334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4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CAC96F-A359-479D-985C-85AA6EEA9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rPr>
              <a:t>Qazaq Tenders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14DF2B-4103-4F70-A7F0-5063FA33C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A8B8B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A8B8B0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CCA9A2-8432-40CF-BE1E-11CCA8C15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Екі қабатты архитектура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BB2172-AB86-45FB-B051-6B469A011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43125"/>
            <a:ext cx="2381250" cy="6477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PDF / DOCX / API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BAC0A3-6272-4ECB-A30F-4B40FB636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00375"/>
            <a:ext cx="219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A8B8B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A8B8B0"/>
                </a:solidFill>
                <a:latin typeface="Helvetica Neue"/>
                <a:ea typeface="Helvetica Neue"/>
                <a:cs typeface="Helvetica Neue"/>
              </a:rPr>
              <a:t>Кіріс деректері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314E4D-54C1-4C14-9749-81BE46C18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238375"/>
            <a:ext cx="28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167"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rPr>
              <a:t>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0BC490-90C1-41C3-935D-1AD74DAFE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143125"/>
            <a:ext cx="2381250" cy="6477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714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71411"/>
                </a:solidFill>
                <a:latin typeface="Helvetica Neue"/>
                <a:ea typeface="Helvetica Neue"/>
                <a:cs typeface="Helvetica Neue"/>
              </a:rPr>
              <a:t>AI қабаты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B291D1-ADD2-4490-92A9-D37534358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000375"/>
            <a:ext cx="219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A8B8B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A8B8B0"/>
                </a:solidFill>
                <a:latin typeface="Helvetica Neue"/>
                <a:ea typeface="Helvetica Neue"/>
                <a:cs typeface="Helvetica Neue"/>
              </a:rPr>
              <a:t>Фактілер мен талаптар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FF4F14-4A5C-471C-8BC7-64A3D7C24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238375"/>
            <a:ext cx="28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167"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rPr>
              <a:t>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194582-61DB-437D-88A8-9E1EA2CE1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143125"/>
            <a:ext cx="2381250" cy="6477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23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Экономикалық қабат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FD7080-7C93-44C1-ACE7-7E79BF8AB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000375"/>
            <a:ext cx="219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A8B8B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A8B8B0"/>
                </a:solidFill>
                <a:latin typeface="Helvetica Neue"/>
                <a:ea typeface="Helvetica Neue"/>
                <a:cs typeface="Helvetica Neue"/>
              </a:rPr>
              <a:t>Формулалар мен күнтізбе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5BB35A-A169-4C2D-8310-EDFF72E2A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238375"/>
            <a:ext cx="28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167"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rPr>
              <a:t>›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95B94C-B7A4-4068-9E33-9FC71C945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143125"/>
            <a:ext cx="2381250" cy="6477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939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Веб және Telegram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38650C-DADE-4F3F-8702-8757873E6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000375"/>
            <a:ext cx="219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A8B8B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A8B8B0"/>
                </a:solidFill>
                <a:latin typeface="Helvetica Neue"/>
                <a:ea typeface="Helvetica Neue"/>
                <a:cs typeface="Helvetica Neue"/>
              </a:rPr>
              <a:t>Түсіндірілетін нәтиже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7DF292-1046-4819-874A-ABC0BBB93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62500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966"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BFFFC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BFFFC5"/>
                </a:solidFill>
                <a:latin typeface="Helvetica Neue"/>
                <a:ea typeface="Helvetica Neue"/>
                <a:cs typeface="Helvetica Neue"/>
              </a:rPr>
              <a:t>AI құжатты түсінеді. Экономикалық қабат есепті детерминирленген формулалармен жүргізеді.</a:t>
            </a:r>
          </a:p>
        </p:txBody>
      </p:sp>
    </p:spTree>
    <p:extLst>
      <p:ext uri="{BB962C8B-B14F-4D97-AF65-F5344CB8AC3E}">
        <p14:creationId xmlns:p14="http://schemas.microsoft.com/office/powerpoint/2010/main" val="9673118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4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587E04-1B08-4643-8533-DD56527AC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rPr>
              <a:t>Qazaq Tenders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2B5BE3-310E-4498-BDA4-21AF39581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A8B8B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A8B8B0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199EAF-5403-476E-A2F5-28A528AF2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Экономикалық модель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7C3B36-0DB5-420A-BD96-DFE275401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10763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Profit = S − (Cpurchase + Clogistics + Ctax + Cbank + Coperation + Cpenalty)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BD56EA-D69F-43D7-84C8-9A19701CC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10763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rPr>
              <a:t>TOS = 0,35 × Margin + 0,30 × Cash Flow + 0,15 × Logistics + 0,20 × Legal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2C4B47-71A1-4C9E-9298-94E7C3129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381500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rPr>
              <a:t>35%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4701FC-14CF-468F-9103-E85ED6F5D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Маржа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804DC4-3C75-4A79-A8C6-31D49B99D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4381500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rPr>
              <a:t>30%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B4E259-F073-49A0-B061-EC8A78B22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504825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Cash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EE1678-A518-49F6-AFD9-E4D37E187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381500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rPr>
              <a:t>15%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9F0FB6-FA71-4EE4-9EE0-43E46360E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504825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Логистика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72A1E4-E306-47EA-9329-DBE305396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4381500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rPr>
              <a:t>20%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79D60A-50D2-49C0-837F-094231470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50482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Құқықтық тәуекел</a:t>
            </a:r>
          </a:p>
        </p:txBody>
      </p:sp>
    </p:spTree>
    <p:extLst>
      <p:ext uri="{BB962C8B-B14F-4D97-AF65-F5344CB8AC3E}">
        <p14:creationId xmlns:p14="http://schemas.microsoft.com/office/powerpoint/2010/main" val="79497441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14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BEC7EC-A55F-411C-BC50-B71638470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rPr>
              <a:t>Qazaq Tenders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874856-13FC-4635-BD97-B4751405C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A8B8B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A8B8B0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A8A6D7-7AA8-42AB-959E-435B4D837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Smart Defaults және дерек сенімділігі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857250" y="1762125"/>
          <a:ext xmlns:a="http://schemas.openxmlformats.org/drawingml/2006/main" cx="10477500" cy="3048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92500"/>
                <a:gridCol w="3492500"/>
                <a:gridCol w="3492500"/>
              </a:tblGrid>
              <a:tr h="6096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575" b="1">
                          <a:solidFill>
                            <a:srgbClr val="0714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Дерек белгісі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575" b="1">
                          <a:solidFill>
                            <a:srgbClr val="0714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Мағынасы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575" b="1">
                          <a:solidFill>
                            <a:srgbClr val="0714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Сенімділік</a:t>
                      </a:r>
                    </a:p>
                  </a:txBody>
                  <a:tcPr marL="91440" marR="91440" marT="45720" marB="45720"/>
                </a:tc>
              </a:tr>
              <a:tr h="6096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25" b="0">
                          <a:solidFill>
                            <a:srgbClr val="FFFFF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Document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25" b="0">
                          <a:solidFill>
                            <a:srgbClr val="FFFFF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Тендер құжатындағы нақты факт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25" b="0">
                          <a:solidFill>
                            <a:srgbClr val="FFFFF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Жоғары</a:t>
                      </a:r>
                    </a:p>
                  </a:txBody>
                  <a:tcPr marL="91440" marR="91440" marT="45720" marB="45720"/>
                </a:tc>
              </a:tr>
              <a:tr h="6096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25" b="0">
                          <a:solidFill>
                            <a:srgbClr val="FFFFF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Supplier API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25" b="0">
                          <a:solidFill>
                            <a:srgbClr val="FFFFF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Серіктестен алынған баға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25" b="0">
                          <a:solidFill>
                            <a:srgbClr val="FFFFF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Жоғары</a:t>
                      </a:r>
                    </a:p>
                  </a:txBody>
                  <a:tcPr marL="91440" marR="91440" marT="45720" marB="45720"/>
                </a:tc>
              </a:tr>
              <a:tr h="6096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25" b="0">
                          <a:solidFill>
                            <a:srgbClr val="FFFFF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Smart Default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25" b="0">
                          <a:solidFill>
                            <a:srgbClr val="FFFFF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Санаттық бастапқы бағалау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25" b="0">
                          <a:solidFill>
                            <a:srgbClr val="FFFFF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Орташа</a:t>
                      </a:r>
                    </a:p>
                  </a:txBody>
                  <a:tcPr marL="91440" marR="91440" marT="45720" marB="45720"/>
                </a:tc>
              </a:tr>
              <a:tr h="6096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25" b="0">
                          <a:solidFill>
                            <a:srgbClr val="FFFFF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User Verified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25" b="0">
                          <a:solidFill>
                            <a:srgbClr val="FFFFF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Пайдаланушы растаған мән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25" b="0">
                          <a:solidFill>
                            <a:srgbClr val="FFFFF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Жоғары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38C1AC-05FA-4AEB-A94E-E7A73783F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334000"/>
            <a:ext cx="10382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098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FD1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FFD166"/>
                </a:solidFill>
                <a:latin typeface="Helvetica Neue"/>
                <a:ea typeface="Helvetica Neue"/>
                <a:cs typeface="Helvetica Neue"/>
              </a:rPr>
              <a:t>Confidence Level болжам дәлдігі емес. Ол кіріс деректерінің қаншасы расталғанын көрсетеді.</a:t>
            </a:r>
          </a:p>
        </p:txBody>
      </p:sp>
    </p:spTree>
    <p:extLst>
      <p:ext uri="{BB962C8B-B14F-4D97-AF65-F5344CB8AC3E}">
        <p14:creationId xmlns:p14="http://schemas.microsoft.com/office/powerpoint/2010/main" val="119838434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714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B87FCF-0F74-4089-A0D1-6A738B6A2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rPr>
              <a:t>Qazaq Tenders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81996B-2BC6-49B3-878B-7B9C82142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A8B8B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A8B8B0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0E6728-1D54-4AD4-B5C2-E748635DA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Логистика және жеткізушілер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93EB53-6F8C-45BF-A60F-058A95556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09750"/>
            <a:ext cx="2333625" cy="619125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Газель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3431D3-D610-4194-A223-0EB3D2B25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1809750"/>
            <a:ext cx="2333625" cy="619125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Автофура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B7A191-0046-416C-AEE4-6F56C73FF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809750"/>
            <a:ext cx="2333625" cy="619125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714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71411"/>
                </a:solidFill>
                <a:latin typeface="Helvetica Neue"/>
                <a:ea typeface="Helvetica Neue"/>
                <a:cs typeface="Helvetica Neue"/>
              </a:rPr>
              <a:t>Теміржол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F0EDB8-9563-4A0D-93A7-8F40F7E0A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1809750"/>
            <a:ext cx="2333625" cy="619125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Авиа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DA8181-0A2E-471A-8DDF-5343DDB7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52750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798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rPr>
              <a:t>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E77059-9571-4961-9237-D956308A1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33700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Қала мен салмаққа сәйкес көлік тарифі есептеледі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1FF2E8-11E2-4451-9F6D-4B140522B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19500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798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rPr>
              <a:t>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EF16B6-75DA-4866-8010-2B87CF9B2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00450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Көлік ауысқанда пайда, мерзім және TOS қайта есептеледі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70E2C3-4DA9-4168-9E06-FCA2D8E8A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86250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798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rPr>
              <a:t>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46CFD7-F2D3-4F03-B05B-2AC85EF5A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267200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Жеткізуші бағасы, қаласы, байланысы және сертификаты көрсетіледі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6C2A50-781B-41D7-B7F1-824A4F688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4292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FD1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FFD166"/>
                </a:solidFill>
                <a:latin typeface="Helvetica Neue"/>
                <a:ea typeface="Helvetica Neue"/>
                <a:cs typeface="Helvetica Neue"/>
              </a:rPr>
              <a:t>Нақты API дерегі Verified, ал мысал каталог міндетті түрде DEMO деп белгіленеді.</a:t>
            </a:r>
          </a:p>
        </p:txBody>
      </p:sp>
    </p:spTree>
    <p:extLst>
      <p:ext uri="{BB962C8B-B14F-4D97-AF65-F5344CB8AC3E}">
        <p14:creationId xmlns:p14="http://schemas.microsoft.com/office/powerpoint/2010/main" val="88498527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14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46548F-7741-4A86-B11B-A9F10016F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rPr>
              <a:t>Qazaq Tenders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4B5314-23E3-4E82-9FBF-0914D3557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A8B8B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A8B8B0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6D169A-E919-4676-9453-BE32693A5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84 млн ₸ лот бойынша сценарий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666750" y="1762125"/>
          <a:ext xmlns:a="http://schemas.openxmlformats.org/drawingml/2006/main" cx="657225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0b4bb63d4d14a0b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4BE47D-B661-45AF-BB92-071D13C24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52625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defRPr>
            </a:pPr>
            <a:r>
              <a:rPr sz="43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rPr>
              <a:t>73,4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EFF9FB-E9F3-4635-A034-93E42DF8B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809875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TOS, 30% аванс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09941D-ED83-4946-AE56-8C75370B1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667125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14,81 млн 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C2AED3-7823-4B9A-8918-FDA64576D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333875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A8B8B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A8B8B0"/>
                </a:solidFill>
                <a:latin typeface="Helvetica Neue"/>
                <a:ea typeface="Helvetica Neue"/>
                <a:cs typeface="Helvetica Neue"/>
              </a:rPr>
              <a:t>таза пайда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CF89A0-17FB-444E-BCC0-C575C09E7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5095875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BFFFC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BFFFC5"/>
                </a:solidFill>
                <a:latin typeface="Helvetica Neue"/>
                <a:ea typeface="Helvetica Neue"/>
                <a:cs typeface="Helvetica Neue"/>
              </a:rPr>
              <a:t>Кассалық алшақтық жоқ</a:t>
            </a:r>
          </a:p>
        </p:txBody>
      </p:sp>
    </p:spTree>
    <p:extLst>
      <p:ext uri="{BB962C8B-B14F-4D97-AF65-F5344CB8AC3E}">
        <p14:creationId xmlns:p14="http://schemas.microsoft.com/office/powerpoint/2010/main" val="156527932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714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8401C6-48FD-4F3A-822B-1E348B537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rPr>
              <a:t>Qazaq Tenders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91650B-4FC9-48CF-9F02-95AB03BA8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A8B8B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A8B8B0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ABD8DE-0C92-4FF2-A524-F69318EF3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Бағдарламалық тексеру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3D64D4-636E-43CF-964F-9F5FA9E79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2857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540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defRPr>
            </a:pPr>
            <a:r>
              <a:rPr sz="540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rPr>
              <a:t>450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5F4436-A717-47DD-B738-D411D0DA1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05125"/>
            <a:ext cx="3714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автоматтандырылған тест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DD344D-26AB-44B5-B982-8190ED03D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09750"/>
            <a:ext cx="2857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540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defRPr>
            </a:pPr>
            <a:r>
              <a:rPr sz="540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rPr>
              <a:t>210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5D47D3-6544-4256-92D0-9F4F5CBBA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905125"/>
            <a:ext cx="4191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веб және Python паритет сценарийі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C413E3-BFB1-43E8-ACC6-3D431DC43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95750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798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rPr>
              <a:t>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4585A9-B5A7-4B29-98D2-95D727024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76700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Негізгі формулалар қайталанатын нәтиже береді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6CCD1F-9D4E-4BAF-BD55-B1CF85F88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62500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798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rPr>
              <a:t>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42AE96-7336-46B5-AAF9-5C945F099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43450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Нақты және болжамды деректер бөлек таңбаланады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763B04-A1F6-4274-B18D-5A821A87B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715000"/>
            <a:ext cx="1038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752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D1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FFD166"/>
                </a:solidFill>
                <a:latin typeface="Helvetica Neue"/>
                <a:ea typeface="Helvetica Neue"/>
                <a:cs typeface="Helvetica Neue"/>
              </a:rPr>
              <a:t>Бұл тексерулер кодтың тұрақтылығын растайды. Нарықтық болжам дәлдігін бөлек пилоттық зерттеу бағалайды.</a:t>
            </a:r>
          </a:p>
        </p:txBody>
      </p:sp>
    </p:spTree>
    <p:extLst>
      <p:ext uri="{BB962C8B-B14F-4D97-AF65-F5344CB8AC3E}">
        <p14:creationId xmlns:p14="http://schemas.microsoft.com/office/powerpoint/2010/main" val="113736251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714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F92C2A-9CC2-4599-92CC-D3DC23506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rPr>
              <a:t>Qazaq Tenders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201C30-6E30-4C9F-9D92-476DABF99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A8B8B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A8B8B0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C7F37A-3F13-441D-BF2C-34062E55A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Қорытынды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3843BE-1558-4D42-8260-F2660BA6C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09750"/>
            <a:ext cx="1028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Qazaq Tenders кәсіпкерге тендердің пайдасын ғана емес, оған жету үшін қажет ақша мен тәуекелді де алдын ала көрсетеді.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99A313-97F7-4252-90DF-3B66AC6B1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14750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798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rPr>
              <a:t>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CCA43C-999C-4A93-BA47-9FCE8DA77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95700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Құжаттағы маңызды талаптар жоғалмайды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3091A8-4C11-4EC6-AD86-F549923D4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81500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798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rPr>
              <a:t>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165262-945B-4ED5-8247-027BA5A8E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62450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Қаржылық нәтиже ашық формуламен есептеледі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6268C8-12C9-4114-AC7F-013DE8576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048250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798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rPr>
              <a:t>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1AD70E-CD7E-4D29-B8AB-DCC9B0B98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29200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FFFFF8"/>
                </a:solidFill>
                <a:latin typeface="Helvetica Neue"/>
                <a:ea typeface="Helvetica Neue"/>
                <a:cs typeface="Helvetica Neue"/>
              </a:rPr>
              <a:t>Сценарийлер бір батырмамен салыстырылады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8F16AA-4EA7-4FA6-A1EE-811613EB3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953125"/>
            <a:ext cx="1028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5CFF67"/>
                </a:solidFill>
                <a:latin typeface="Helvetica Neue"/>
                <a:ea typeface="Helvetica Neue"/>
                <a:cs typeface="Helvetica Neue"/>
              </a:rPr>
              <a:t>Назарларыңызға рақмет</a:t>
            </a:r>
          </a:p>
        </p:txBody>
      </p:sp>
    </p:spTree>
    <p:extLst>
      <p:ext uri="{BB962C8B-B14F-4D97-AF65-F5344CB8AC3E}">
        <p14:creationId xmlns:p14="http://schemas.microsoft.com/office/powerpoint/2010/main" val="126374212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2026-09-13T20:40:11.8530000Z</dcterms:created>
  <dcterms:modified xsi:type="dcterms:W3CDTF">2026-09-13T20:40:11.8530000Z</dcterms:modified>
</coreProperties>
</file>