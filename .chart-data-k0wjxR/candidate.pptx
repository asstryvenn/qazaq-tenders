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9f436614354be2" /><Relationship Type="http://schemas.openxmlformats.org/officeDocument/2006/relationships/extended-properties" Target="/docProps/app.xml" Id="Rb6a05017cbb549de" /><Relationship Type="http://schemas.openxmlformats.org/officeDocument/2006/relationships/officeDocument" Target="/ppt/presentation.xml" Id="Rbacdb9c119d344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87ecfd036841d6"/>
  </p:sldMasterIdLst>
  <p:notesMasterIdLst>
    <p:notesMasterId xmlns:r="http://schemas.openxmlformats.org/officeDocument/2006/relationships" r:id="R1e59e1b8ffa548b5"/>
  </p:notesMasterIdLst>
  <p:sldIdLst>
    <p:sldId xmlns:r="http://schemas.openxmlformats.org/officeDocument/2006/relationships" id="256" r:id="R2c88c7dad527496d"/>
    <p:sldId xmlns:r="http://schemas.openxmlformats.org/officeDocument/2006/relationships" id="257" r:id="Re6b6015278074998"/>
    <p:sldId xmlns:r="http://schemas.openxmlformats.org/officeDocument/2006/relationships" id="258" r:id="Rfb2f7c77b13a44bf"/>
    <p:sldId xmlns:r="http://schemas.openxmlformats.org/officeDocument/2006/relationships" id="259" r:id="Rafe9b18827314852"/>
    <p:sldId xmlns:r="http://schemas.openxmlformats.org/officeDocument/2006/relationships" id="260" r:id="R10e86072547c4d0b"/>
    <p:sldId xmlns:r="http://schemas.openxmlformats.org/officeDocument/2006/relationships" id="261" r:id="R246ef61e72e2427e"/>
    <p:sldId xmlns:r="http://schemas.openxmlformats.org/officeDocument/2006/relationships" id="262" r:id="R85af85294a8d4375"/>
    <p:sldId xmlns:r="http://schemas.openxmlformats.org/officeDocument/2006/relationships" id="263" r:id="R7804072753db47e5"/>
    <p:sldId xmlns:r="http://schemas.openxmlformats.org/officeDocument/2006/relationships" id="264" r:id="R361d5f8ba97b4d2b"/>
    <p:sldId xmlns:r="http://schemas.openxmlformats.org/officeDocument/2006/relationships" id="265" r:id="Rcbf077e44ad6435b"/>
    <p:sldId xmlns:r="http://schemas.openxmlformats.org/officeDocument/2006/relationships" id="266" r:id="R039697725e394fd7"/>
    <p:sldId xmlns:r="http://schemas.openxmlformats.org/officeDocument/2006/relationships" id="267" r:id="Re9450760c80841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b86d30d5224481" /><Relationship Type="http://schemas.openxmlformats.org/officeDocument/2006/relationships/slideMaster" Target="/ppt/slideMasters/slideMaster1.xml" Id="Rba87ecfd036841d6" /><Relationship Type="http://schemas.openxmlformats.org/officeDocument/2006/relationships/notesMaster" Target="/ppt/notesMasters/notesMaster1.xml" Id="R1e59e1b8ffa548b5" /><Relationship Type="http://schemas.openxmlformats.org/officeDocument/2006/relationships/presProps" Target="/ppt/presProps.xml" Id="R84269c5d737f4ffd" /><Relationship Type="http://schemas.openxmlformats.org/officeDocument/2006/relationships/tableStyles" Target="/ppt/tableStyles.xml" Id="Re84c2245f61d4f86" /><Relationship Type="http://schemas.openxmlformats.org/officeDocument/2006/relationships/slide" Target="/ppt/slides/slide1.xml" Id="R2c88c7dad527496d" /><Relationship Type="http://schemas.openxmlformats.org/officeDocument/2006/relationships/slide" Target="/ppt/slides/slide2.xml" Id="Re6b6015278074998" /><Relationship Type="http://schemas.openxmlformats.org/officeDocument/2006/relationships/slide" Target="/ppt/slides/slide3.xml" Id="Rfb2f7c77b13a44bf" /><Relationship Type="http://schemas.openxmlformats.org/officeDocument/2006/relationships/slide" Target="/ppt/slides/slide4.xml" Id="Rafe9b18827314852" /><Relationship Type="http://schemas.openxmlformats.org/officeDocument/2006/relationships/slide" Target="/ppt/slides/slide5.xml" Id="R10e86072547c4d0b" /><Relationship Type="http://schemas.openxmlformats.org/officeDocument/2006/relationships/slide" Target="/ppt/slides/slide6.xml" Id="R246ef61e72e2427e" /><Relationship Type="http://schemas.openxmlformats.org/officeDocument/2006/relationships/slide" Target="/ppt/slides/slide7.xml" Id="R85af85294a8d4375" /><Relationship Type="http://schemas.openxmlformats.org/officeDocument/2006/relationships/slide" Target="/ppt/slides/slide8.xml" Id="R7804072753db47e5" /><Relationship Type="http://schemas.openxmlformats.org/officeDocument/2006/relationships/slide" Target="/ppt/slides/slide9.xml" Id="R361d5f8ba97b4d2b" /><Relationship Type="http://schemas.openxmlformats.org/officeDocument/2006/relationships/slide" Target="/ppt/slides/slide10.xml" Id="Rcbf077e44ad6435b" /><Relationship Type="http://schemas.openxmlformats.org/officeDocument/2006/relationships/slide" Target="/ppt/slides/slide11.xml" Id="R039697725e394fd7" /><Relationship Type="http://schemas.openxmlformats.org/officeDocument/2006/relationships/slide" Target="/ppt/slides/slide12.xml" Id="Re9450760c80841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37857ae7f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db3481f5f430d" /><Relationship Type="http://schemas.openxmlformats.org/officeDocument/2006/relationships/notesMaster" Target="/ppt/notesMasters/notesMaster1.xml" Id="R1725d5a951fe40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cafb9344a5451d" /><Relationship Type="http://schemas.openxmlformats.org/officeDocument/2006/relationships/notesMaster" Target="/ppt/notesMasters/notesMaster1.xml" Id="R70478dcd89e147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1a00da95041cb" /><Relationship Type="http://schemas.openxmlformats.org/officeDocument/2006/relationships/notesMaster" Target="/ppt/notesMasters/notesMaster1.xml" Id="Rbfe29e8428e441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e4cbb116c4dce" /><Relationship Type="http://schemas.openxmlformats.org/officeDocument/2006/relationships/notesMaster" Target="/ppt/notesMasters/notesMaster1.xml" Id="Rb5f6a1c956f942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000ca924a346c2" /><Relationship Type="http://schemas.openxmlformats.org/officeDocument/2006/relationships/notesMaster" Target="/ppt/notesMasters/notesMaster1.xml" Id="R6c86636b4f0e46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de34f369094aed" /><Relationship Type="http://schemas.openxmlformats.org/officeDocument/2006/relationships/notesMaster" Target="/ppt/notesMasters/notesMaster1.xml" Id="R93d532783695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09e80127ff425e" /><Relationship Type="http://schemas.openxmlformats.org/officeDocument/2006/relationships/notesMaster" Target="/ppt/notesMasters/notesMaster1.xml" Id="R07fee3c27b7245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9377ebd231478b" /><Relationship Type="http://schemas.openxmlformats.org/officeDocument/2006/relationships/notesMaster" Target="/ppt/notesMasters/notesMaster1.xml" Id="R9d5c10ff8d2645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ce5f6c885a4c40" /><Relationship Type="http://schemas.openxmlformats.org/officeDocument/2006/relationships/notesMaster" Target="/ppt/notesMasters/notesMaster1.xml" Id="R75043f3f34ac4d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79d805528d410c" /><Relationship Type="http://schemas.openxmlformats.org/officeDocument/2006/relationships/notesMaster" Target="/ppt/notesMasters/notesMaster1.xml" Id="R2dd51155fe5d47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fd2325b924875" /><Relationship Type="http://schemas.openxmlformats.org/officeDocument/2006/relationships/notesMaster" Target="/ppt/notesMasters/notesMaster1.xml" Id="R29ca6e51501d4c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501ef2e2044751" /><Relationship Type="http://schemas.openxmlformats.org/officeDocument/2006/relationships/notesMaster" Target="/ppt/notesMasters/notesMaster1.xml" Id="Ref2094bf8a6d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Қайырлы күн, құрметті қазылар алқасы! Qazaq Tenders кәсіпкерге тендердің пайдасын, тәуекелін және қажетті айналым қаражатын алдын ала бағалауға көмектеседі.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Алдымен мәселені көрсетемін, одан кейін жүйенің жұмысын, формулаларын және нақты есептік сценарийді түсіндіремін.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Қазақстанда 2,17 миллион белсенді ШОБ субъектісі бар, ал олардың ЖІӨ-дегі үлесі 40,9 пайыз. Сондықтан мемлекеттік сатып алудағы шешім сапасы экономика үшін маңызды.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Жалпы тендер сомасы кәсіпкердің нақты табысын көрсетпейді. Салық, банк комиссиясы, логистика және төлем мерзімі бірге есептелуі керек.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Пайдаланушы тендерді ашады. Жүйе құжатты оқып, есепті бірден жасайды. Өз жағдайы өзгеше болса, сатып алу бағасын, авансты немесе көлік түрін бір батырмамен өзгертеді.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қабаты құжаттан деректерді шығарады. Ол пайда санын ойдан шығармайды. Барлық ақша көрсеткішін жеке экономикалық қозғалтқыш есептейді.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TOS шешімді төрт өлшем арқылы көрсетеді. Салмақтар бастапқы сараптамалық параметрлер. Кейін оларды аяқталған келісімшарттардың деректерімен калибрлеу қажет.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Жүйе нақты факт пен болжамды мәнді араластырмайды. Confidence Level 95 пайыз болса, бұл деректердің басым бөлігі тексерілгенін білдіреді, экономикалық нәтиженің 95 пайыз дәлдігін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Көлік түрін өзгерткенде логистика шығыны ғана емес, жеткізу мерзімі, кешігу қаупі және ақша ағыны да өзгереді.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Аванссыз автоматты сценарийде пайда 14,55 миллион теңге, бірақ кассалық тапшылық 13,19 миллион теңге. 30 пайыз аванс тапшылықты жойып, TOS көрсеткішін 73,4 балға көтереді.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450 автоматтандырылған тест есептеу қозғалтқышының тұрақтылығын тексереді. Бірақ бұл 95 пайыздық экономикалық болжам дәлелденді деген мәлімдеме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Жүйе кәсіпкердің орнына шешім қабылдамайды. Ол шешімнің салдарын алдын ала көруге мүмкіндік береді. Назарларыңызға рақмет, сұрақтарыңызға жауап беруге дайынмын.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3c996e7e741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9dc17b378b484b" /><Relationship Type="http://schemas.openxmlformats.org/officeDocument/2006/relationships/slideLayout" Target="/ppt/slideLayouts/slideLayout1.xml" Id="R9450605bce4f42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0605bce4f42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c000afdd44108" /><Relationship Type="http://schemas.openxmlformats.org/officeDocument/2006/relationships/notesSlide" Target="/ppt/notesSlides/notesSlide1.xml" Id="R4e7e40e1bf6f41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e4ddffb494c5e" /><Relationship Type="http://schemas.openxmlformats.org/officeDocument/2006/relationships/notesSlide" Target="/ppt/notesSlides/notesSlide2.xml" Id="R060e6c87fc5043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d29ac88f943bc" /><Relationship Type="http://schemas.openxmlformats.org/officeDocument/2006/relationships/notesSlide" Target="/ppt/notesSlides/notesSlide3.xml" Id="Re9004d8e6b0c42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7e48c3600428e" /><Relationship Type="http://schemas.openxmlformats.org/officeDocument/2006/relationships/notesSlide" Target="/ppt/notesSlides/notesSlide4.xml" Id="Rfe0d9661ec30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02dd0a2da4be5" /><Relationship Type="http://schemas.openxmlformats.org/officeDocument/2006/relationships/notesSlide" Target="/ppt/notesSlides/notesSlide5.xml" Id="R521684c991ed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ec7088f8a43e4" /><Relationship Type="http://schemas.openxmlformats.org/officeDocument/2006/relationships/notesSlide" Target="/ppt/notesSlides/notesSlide6.xml" Id="R6f7584dada7643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3597d4e634882" /><Relationship Type="http://schemas.openxmlformats.org/officeDocument/2006/relationships/notesSlide" Target="/ppt/notesSlides/notesSlide7.xml" Id="R05d48392fda244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6f666f0944485" /><Relationship Type="http://schemas.openxmlformats.org/officeDocument/2006/relationships/notesSlide" Target="/ppt/notesSlides/notesSlide8.xml" Id="R2f36c748b384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c30729a0b4541" /><Relationship Type="http://schemas.openxmlformats.org/officeDocument/2006/relationships/notesSlide" Target="/ppt/notesSlides/notesSlide9.xml" Id="Re93c6bdcd0e040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e0154e95640bc" /><Relationship Type="http://schemas.openxmlformats.org/officeDocument/2006/relationships/chart" Target="/ppt/slides/charts/chart1.xml" Id="R40b4bb63d4d14a0b" /><Relationship Type="http://schemas.openxmlformats.org/officeDocument/2006/relationships/notesSlide" Target="/ppt/notesSlides/notesSlide10.xml" Id="Re38dfde16e4240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6941f7f9c41a7" /><Relationship Type="http://schemas.openxmlformats.org/officeDocument/2006/relationships/notesSlide" Target="/ppt/notesSlides/notesSlide11.xml" Id="R31f8b092c3ff46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68cc046c24743" /><Relationship Type="http://schemas.openxmlformats.org/officeDocument/2006/relationships/notesSlide" Target="/ppt/notesSlides/notesSlide12.xml" Id="R4fd7e3b5b52740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TOS</c:v>
          </c:tx>
          <c:spPr>
            <a:solidFill xmlns:a="http://schemas.openxmlformats.org/drawingml/2006/main">
              <a:srgbClr val="5CFF67"/>
            </a:solidFill>
          </c:spPr>
          <c:cat>
            <c:strRef>
              <c:f>'Chart Data'!$A$2:$A$6</c:f>
              <c:strCache>
                <c:ptCount val="5"/>
                <c:pt idx="0">
                  <c:v>Автоматты</c:v>
                </c:pt>
                <c:pt idx="1">
                  <c:v>Автофура</c:v>
                </c:pt>
                <c:pt idx="2">
                  <c:v>Теміржол</c:v>
                </c:pt>
                <c:pt idx="3">
                  <c:v>Авиа</c:v>
                </c:pt>
                <c:pt idx="4">
                  <c:v>30% аванс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62.7</c:v>
                </c:pt>
                <c:pt idx="1">
                  <c:v>60.6</c:v>
                </c:pt>
                <c:pt idx="2">
                  <c:v>62</c:v>
                </c:pt>
                <c:pt idx="3">
                  <c:v>41.5</c:v>
                </c:pt>
                <c:pt idx="4">
                  <c:v>73.4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3D3C0-D87A-4986-91E0-8890F94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</a:t>
            </a:r>
          </a:p>
          <a:p xmlns:a="http://schemas.openxmlformats.org/drawingml/2006/main">
            <a:pPr>
              <a:def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12DF5-F38F-4237-8709-E73CBDD6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Шағын және орта бизнеске мемлекеттік сатып алудың экономикалық тиімділігін бағалайтын интеллектуалды платформа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B95BB-3482-4E7E-82C2-FC1D474D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Нұрали Байбосынов  |  11A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661FF-5F37-40D3-ADC9-39420697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www.qazaqtenders.kz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20C5-9152-4023-928E-56119901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8927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1D974-5475-464B-8DEA-3CB7715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C915-110B-406A-9B09-BD2462EA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DC4F0-C047-4140-AF1D-5694821C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Бүгінгі жоспар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F9487-5F97-492B-96C8-A556CB1C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C615A-6906-495C-A34A-6BAA8FF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287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Өзектілік және мәселе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16641-D735-49CF-98DF-12FF74D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5AD61-E25E-436E-9EA6-238E8AE1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193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шешімі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0F09-C207-4A3F-875A-39F5380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0BB48-FDD3-4CEA-994D-E81C6EEC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Жүйе архитектурасы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4E86-D123-4573-B4E7-C4A9DDF0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B9B4D-D0EB-47A1-A16E-5683232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04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3A915-8212-466F-BB61-7A506AC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C1194-9B0D-4635-BD0E-4C2C8B94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 және жеткізушілер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FC4CD-F62B-4AD3-89D0-B917E5DF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8D31F-AF8C-4EBD-8C0E-D7493ED7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815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Есептік нәтиже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F3F35-0A28-46CC-97B0-6A8474FD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CF7D8-91AC-450E-801D-5178FC7C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720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Тексеру және қорытынды</a:t>
            </a:r>
          </a:p>
        </p:txBody>
      </p:sp>
    </p:spTree>
    <p:extLst>
      <p:ext uri="{BB962C8B-B14F-4D97-AF65-F5344CB8AC3E}">
        <p14:creationId xmlns:p14="http://schemas.microsoft.com/office/powerpoint/2010/main" val="274607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61A6A-97AE-4D9A-9811-49250F12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1990E-D3E2-452B-B2EF-0B61CE75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D2F56-82A7-48A3-8E3C-618BF84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Өзектілік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C21ED-6B10-4D6C-86FA-627E72B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2,17 млн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54489-251B-4458-8679-175613D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Қазақстандағы белсенді ШОБ субъектілері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E53ED-5F2D-43FC-A9EC-A10EFDD4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40,9%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9F94-6CD9-4758-9ED9-B5E8D73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ШОБ-тың ЖІӨ-дегі үлесі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8ECAC-5BF1-48F6-954B-4F75DC67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Мемлекеттік сатып алу бизнеске үлкен мүмкіндік береді. Бірақ құжаттарды қате түсіну, шығынды толық есептемеу және төлемді күту шағын кәсіпорын үшін нақты қаржылық тәуекел туғызады.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63D4D-CD8A-4FBA-98FA-83948FE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Дереккөз: ҚР Ұлттық статистика бюросы, 01.01.2026</a:t>
            </a:r>
          </a:p>
        </p:txBody>
      </p:sp>
    </p:spTree>
    <p:extLst>
      <p:ext uri="{BB962C8B-B14F-4D97-AF65-F5344CB8AC3E}">
        <p14:creationId xmlns:p14="http://schemas.microsoft.com/office/powerpoint/2010/main" val="705527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E7123-58D6-4977-B2E8-763602AA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5BB13-C998-4CF8-AF04-5F83B42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FA8FC-5AA1-454A-9FEC-F57D39B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Кәсіпкердің негізгі тәуекелдері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50894-D56A-4629-8944-51E3036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190DD-BD96-4F6B-B652-11AFE81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Күрделі құжаттар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3DB09-D4EB-4CAB-A5A4-A5958543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B4171-3253-4EC9-B891-D79D55C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Жасырын шығындар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C95DF-29CD-4EAC-8275-91AC071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9ED2-9004-4F82-86AB-E5AD3E2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Кассалық алшақтық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E3F9F-7E22-45EA-84BB-F93401F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EE3D-CE84-4952-8CC5-D5B486E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Арнайы талаптар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144A9-C57F-4A9D-AC52-32F88427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Техникалық ерекшелік пен шарттардан бір маңызды талаптың жоғалуы өтінімнен бас тартуға әкелуі мүмкін. Пайда оң болғанның өзінде айналым капиталы жеткіліксіз болуы ықтимал.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1BA07-9D5B-481C-9EEA-E891794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Мәселе: кәсіпкер шешімді толық қаржылық модельсіз қабылдайды</a:t>
            </a:r>
          </a:p>
        </p:txBody>
      </p:sp>
    </p:spTree>
    <p:extLst>
      <p:ext uri="{BB962C8B-B14F-4D97-AF65-F5344CB8AC3E}">
        <p14:creationId xmlns:p14="http://schemas.microsoft.com/office/powerpoint/2010/main" val="1610185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B173A-615F-4640-A6BD-83014979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8BB91-8000-4AE2-95D8-071D64BB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C6AA6-DEB1-4299-8221-DA6A5312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шешімі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ED834-6AEC-483E-A72F-287361D5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3F580-8DC8-4BE6-9E06-A93CED28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PDF, DOCX және API деректерін талдау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503FF-23D7-4D69-AC19-EB5EF494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64E5D-CD12-41FB-91BE-8ED770B2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Техникалық ерекшеліктегі арнайы талаптарды бөлек шығару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28749-A046-4057-866D-65A1CCB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337FE-DFE2-4120-9915-4D7D236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Пайда, маржа және күнделікті Cash Flow есептеу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FD57C-5A40-4BA4-9386-9EE1B2C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73799-30D1-40C3-B9D8-1EB541FC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Көлік пен жеткізуші сценарийлерін бір батырмамен салыстыру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B64C2-D8CF-40C7-BA42-4F70D25C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5F111-89D3-41B8-B757-0523AB97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Нәтижені 0–100 аралығындағы TOS индексімен түсіндіру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10CA0-DE19-4DF2-AEF2-2472BCD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Пайдаланушы ұзақ форма толтырмайды. Жүйе бастапқы мәндерді өзі ұсынады, ал кәсіпкер оларды бір рет басып түзетеді.</a:t>
            </a:r>
          </a:p>
        </p:txBody>
      </p:sp>
    </p:spTree>
    <p:extLst>
      <p:ext uri="{BB962C8B-B14F-4D97-AF65-F5344CB8AC3E}">
        <p14:creationId xmlns:p14="http://schemas.microsoft.com/office/powerpoint/2010/main" val="1301343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AC96F-A359-479D-985C-85AA6EEA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4DF2B-4103-4F70-A7F0-5063FA3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CA9A2-8432-40CF-BE1E-11CCA8C1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Екі қабатты 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B2172-AB86-45FB-B051-6B469A01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8125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PDF / DOCX /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AC0A3-6272-4ECB-A30F-4B40FB63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Кіріс деректері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4E4D-54C1-4C14-9749-81BE46C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BC490-90C1-41C3-935D-1AD74DAF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38125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rPr>
              <a:t>AI қабаты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291D1-ADD2-4490-92A9-D375343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Фактілер мен талаптар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F4F14-4A5C-471C-8BC7-64A3D7C2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94582-61DB-437D-88A8-9E1EA2CE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2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қабат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D7080-7C93-44C1-ACE7-7E79BF8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Формулалар мен күнтізбе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BB35A-A169-4C2D-8310-EDFF72E2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5B94C-B7A4-4068-9E33-9FC71C94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38125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3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Веб және Telegram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8650C-DADE-4F3F-8702-8757873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Түсіндірілетін нәтиже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DF292-1046-4819-874A-ABC0BBB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AI құжатты түсінеді. Экономикалық қабат есепті детерминирленген формулалармен жүргізеді.</a:t>
            </a:r>
          </a:p>
        </p:txBody>
      </p:sp>
    </p:spTree>
    <p:extLst>
      <p:ext uri="{BB962C8B-B14F-4D97-AF65-F5344CB8AC3E}">
        <p14:creationId xmlns:p14="http://schemas.microsoft.com/office/powerpoint/2010/main" val="96731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87E04-1B08-4643-8533-DD56527A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B5BE3-310E-4498-BDA4-21AF3958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99EAF-5403-476E-A2F5-28A528AF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модель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C3B36-0DB5-420A-BD96-DFE27540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Profit = S − (Cpurchase + Clogistics + Ctax + Cbank + Coperation + Cpenalty)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D56EA-D69F-43D7-84C8-9A19701C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TOS = 0,35 × Margin + 0,30 × Cash Flow + 0,15 × Logistics + 0,20 × Legal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C4B47-71A1-4C9E-9298-94E7C312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701FC-14CF-468F-9103-E85ED6F5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Маржа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4DC4-3C75-4A79-A8C6-31D49B9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4E259-F073-49A0-B061-EC8A78B2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Cash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E1678-A518-49F6-AFD9-E4D37E18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F0FB6-FA71-4EE4-9EE0-43E46360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2A1E4-E306-47EA-9329-DBE30539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9D60A-50D2-49C0-837F-09423147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Құқықтық тәуекел</a:t>
            </a:r>
          </a:p>
        </p:txBody>
      </p:sp>
    </p:spTree>
    <p:extLst>
      <p:ext uri="{BB962C8B-B14F-4D97-AF65-F5344CB8AC3E}">
        <p14:creationId xmlns:p14="http://schemas.microsoft.com/office/powerpoint/2010/main" val="794974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EC7EC-A55F-411C-BC50-B716384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74856-13FC-4635-BD97-B475140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8A6D7-7AA8-42AB-959E-435B4D83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Smart Defaults және дерек сенімділігі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0714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Дерек белгісі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0714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Мағынасы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0714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Сенімділік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Document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Тендер құжатындағы нақты факт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Supplier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Серіктестен алынған баға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Smart Default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Санаттық бастапқы бағалау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Орташа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Verified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Пайдаланушы растаған мән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8C1AC-05FA-4AEB-A94E-E7A73783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98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Confidence Level болжам дәлдігі емес. Ол кіріс деректерінің қаншасы расталғанын көрсетеді.</a:t>
            </a:r>
          </a:p>
        </p:txBody>
      </p:sp>
    </p:spTree>
    <p:extLst>
      <p:ext uri="{BB962C8B-B14F-4D97-AF65-F5344CB8AC3E}">
        <p14:creationId xmlns:p14="http://schemas.microsoft.com/office/powerpoint/2010/main" val="1198384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87FCF-0F74-4089-A0D1-6A738B6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1996B-2BC6-49B3-878B-7B9C8214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E6728-1D54-4AD4-B5C2-E748635D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 және жеткізушілер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3EB53-6F8C-45BF-A60F-058A955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333625" cy="619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Газель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431D3-D610-4194-A223-0EB3D2B2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09750"/>
            <a:ext cx="2333625" cy="619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Автофура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7A191-0046-416C-AEE4-6F56C73F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2333625" cy="619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411"/>
                </a:solidFill>
                <a:latin typeface="Helvetica Neue"/>
                <a:ea typeface="Helvetica Neue"/>
                <a:cs typeface="Helvetica Neue"/>
              </a:rPr>
              <a:t>Теміржол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0EDB8-9563-4A0D-93A7-8F40F7E0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09750"/>
            <a:ext cx="2333625" cy="6191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Авиа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A8181-0A2E-471A-8DDF-5343DDB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77059-9571-4961-9237-D956308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Қала мен салмаққа сәйкес көлік тарифі есептеледі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FF2E8-11E2-4451-9F6D-4B140522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F16B6-75DA-4866-8010-2B87CF9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Көлік ауысқанда пайда, мерзім және TOS қайта есептеледі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0E2C3-4DA9-4168-9E06-FCA2D8E8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6CFD7-F2D3-4F03-B05B-2AC85EF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Жеткізуші бағасы, қаласы, байланысы және сертификаты көрсетіледі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C2A50-781B-41D7-B7F1-824A4F6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Нақты API дерегі Verified, ал мысал каталог міндетті түрде DEMO деп белгіленеді.</a:t>
            </a:r>
          </a:p>
        </p:txBody>
      </p:sp>
    </p:spTree>
    <p:extLst>
      <p:ext uri="{BB962C8B-B14F-4D97-AF65-F5344CB8AC3E}">
        <p14:creationId xmlns:p14="http://schemas.microsoft.com/office/powerpoint/2010/main" val="8849852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6548F-7741-4A86-B11B-A9F1001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B5314-23E3-4E82-9FBF-0914D35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D169A-E919-4676-9453-BE32693A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84 млн ₸ лот бойынша сценарий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6572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b4bb63d4d14a0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BE47D-B661-45AF-BB92-071D13C2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73,4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F9FB-E9F3-4635-A034-93E42DF8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TOS, 30% аванс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9941D-ED83-4946-AE56-8C75370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14,81 млн 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2AED3-7823-4B9A-8918-FDA64576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таза пайда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F89A0-17FB-444E-BCC0-C575C09E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95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Кассалық алшақтық жоқ</a:t>
            </a:r>
          </a:p>
        </p:txBody>
      </p:sp>
    </p:spTree>
    <p:extLst>
      <p:ext uri="{BB962C8B-B14F-4D97-AF65-F5344CB8AC3E}">
        <p14:creationId xmlns:p14="http://schemas.microsoft.com/office/powerpoint/2010/main" val="15652793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401C6-48FD-4F3A-822B-1E348B53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1650B-4FC9-48CF-9F02-95AB03B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BD8DE-0C92-4FF2-A524-F69318EF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Бағдарламалық тексеру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D64D4-636E-43CF-964F-9F5FA9E7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F4436-A717-47DD-B738-D411D0DA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автоматтандырылған тест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D344D-26AB-44B5-B982-8190ED0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D47D3-6544-4256-92D0-9F4F5CBB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веб және Python паритет сценарийі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413E3-BFB1-43E8-ACC6-3D431DC4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585A9-B5A7-4B29-98D2-95D72702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Негізгі формулалар қайталанатын нәтиже береді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CCD1F-9D4E-4BAF-BD55-B1CF85F8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2AE96-7336-46B5-AAF9-5C945F09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Нақты және болжамды деректер бөлек таңбаланады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63B04-A1F6-4274-B18D-5A821A8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5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Бұл тексерулер кодтың тұрақтылығын растайды. Нарықтық болжам дәлдігін бөлек пилоттық зерттеу бағалайды.</a:t>
            </a:r>
          </a:p>
        </p:txBody>
      </p:sp>
    </p:spTree>
    <p:extLst>
      <p:ext uri="{BB962C8B-B14F-4D97-AF65-F5344CB8AC3E}">
        <p14:creationId xmlns:p14="http://schemas.microsoft.com/office/powerpoint/2010/main" val="1137362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92C2A-9CC2-4599-92CC-D3DC235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01C30-6E30-4C9F-9D92-476DABF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7F37A-3F13-441D-BF2C-34062E5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Қорытынды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43BE-1558-4D42-8260-F2660BA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кәсіпкерге тендердің пайдасын ғана емес, оған жету үшін қажет ақша мен тәуекелді де алдын ала көрсетеді.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A313-97F7-4252-90DF-3B66AC6B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CA43C-999C-4A93-BA47-9FCE8DA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Құжаттағы маңызды талаптар жоғалмайды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091A8-4C11-4EC6-AD86-F549923D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65262-945B-4ED5-8247-027BA5A8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Қаржылық нәтиже ашық формуламен есептеледі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268C8-12C9-4114-AC7F-013DE85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AD70E-CD7E-4D29-B8AB-DCC9B0B9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Сценарийлер бір батырмамен салыстырылады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F16AA-4EA7-4FA6-A1EE-811613E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Назарларыңызға рақмет</a:t>
            </a:r>
          </a:p>
        </p:txBody>
      </p:sp>
    </p:spTree>
    <p:extLst>
      <p:ext uri="{BB962C8B-B14F-4D97-AF65-F5344CB8AC3E}">
        <p14:creationId xmlns:p14="http://schemas.microsoft.com/office/powerpoint/2010/main" val="1263742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2026-09-13T20:40:11.8530000Z</dcterms:created>
  <dcterms:modified xsi:type="dcterms:W3CDTF">2026-09-13T20:40:11.8530000Z</dcterms:modified>
</coreProperties>
</file>