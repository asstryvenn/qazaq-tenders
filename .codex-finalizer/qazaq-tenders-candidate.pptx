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ea34bbb8634da7" /><Relationship Type="http://schemas.openxmlformats.org/officeDocument/2006/relationships/extended-properties" Target="/docProps/app.xml" Id="Re8d4ae7b24844863" /><Relationship Type="http://schemas.openxmlformats.org/officeDocument/2006/relationships/officeDocument" Target="/ppt/presentation.xml" Id="R57bf92d93f4543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55cf3fcb3a47e7"/>
  </p:sldMasterIdLst>
  <p:notesMasterIdLst>
    <p:notesMasterId xmlns:r="http://schemas.openxmlformats.org/officeDocument/2006/relationships" r:id="R57664b4c5e3b4f5c"/>
  </p:notesMasterIdLst>
  <p:sldIdLst>
    <p:sldId xmlns:r="http://schemas.openxmlformats.org/officeDocument/2006/relationships" id="256" r:id="R0bc1b3d6fcb44faf"/>
    <p:sldId xmlns:r="http://schemas.openxmlformats.org/officeDocument/2006/relationships" id="257" r:id="R8a9329f919d74492"/>
    <p:sldId xmlns:r="http://schemas.openxmlformats.org/officeDocument/2006/relationships" id="258" r:id="R459cb8beff8d452b"/>
    <p:sldId xmlns:r="http://schemas.openxmlformats.org/officeDocument/2006/relationships" id="259" r:id="Rfe53a39b30474867"/>
    <p:sldId xmlns:r="http://schemas.openxmlformats.org/officeDocument/2006/relationships" id="260" r:id="R94e76fcc701e4612"/>
    <p:sldId xmlns:r="http://schemas.openxmlformats.org/officeDocument/2006/relationships" id="261" r:id="Rd2f895ee6b134303"/>
    <p:sldId xmlns:r="http://schemas.openxmlformats.org/officeDocument/2006/relationships" id="262" r:id="Rccd4bf53de564070"/>
    <p:sldId xmlns:r="http://schemas.openxmlformats.org/officeDocument/2006/relationships" id="263" r:id="R5b5bb29aac494009"/>
    <p:sldId xmlns:r="http://schemas.openxmlformats.org/officeDocument/2006/relationships" id="264" r:id="R0af844c28e304b71"/>
    <p:sldId xmlns:r="http://schemas.openxmlformats.org/officeDocument/2006/relationships" id="265" r:id="R09d4cac2f8de4156"/>
    <p:sldId xmlns:r="http://schemas.openxmlformats.org/officeDocument/2006/relationships" id="266" r:id="R541ac9813be34471"/>
    <p:sldId xmlns:r="http://schemas.openxmlformats.org/officeDocument/2006/relationships" id="267" r:id="R89f0e2133e6b45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86e6496cf24bdc" /><Relationship Type="http://schemas.openxmlformats.org/officeDocument/2006/relationships/slideMaster" Target="/ppt/slideMasters/slideMaster1.xml" Id="R8a55cf3fcb3a47e7" /><Relationship Type="http://schemas.openxmlformats.org/officeDocument/2006/relationships/notesMaster" Target="/ppt/notesMasters/notesMaster1.xml" Id="R57664b4c5e3b4f5c" /><Relationship Type="http://schemas.openxmlformats.org/officeDocument/2006/relationships/presProps" Target="/ppt/presProps.xml" Id="Rc6ca5eec75e041d0" /><Relationship Type="http://schemas.openxmlformats.org/officeDocument/2006/relationships/tableStyles" Target="/ppt/tableStyles.xml" Id="R4f50a0b98627462b" /><Relationship Type="http://schemas.openxmlformats.org/officeDocument/2006/relationships/slide" Target="/ppt/slides/slide1.xml" Id="R0bc1b3d6fcb44faf" /><Relationship Type="http://schemas.openxmlformats.org/officeDocument/2006/relationships/slide" Target="/ppt/slides/slide2.xml" Id="R8a9329f919d74492" /><Relationship Type="http://schemas.openxmlformats.org/officeDocument/2006/relationships/slide" Target="/ppt/slides/slide3.xml" Id="R459cb8beff8d452b" /><Relationship Type="http://schemas.openxmlformats.org/officeDocument/2006/relationships/slide" Target="/ppt/slides/slide4.xml" Id="Rfe53a39b30474867" /><Relationship Type="http://schemas.openxmlformats.org/officeDocument/2006/relationships/slide" Target="/ppt/slides/slide5.xml" Id="R94e76fcc701e4612" /><Relationship Type="http://schemas.openxmlformats.org/officeDocument/2006/relationships/slide" Target="/ppt/slides/slide6.xml" Id="Rd2f895ee6b134303" /><Relationship Type="http://schemas.openxmlformats.org/officeDocument/2006/relationships/slide" Target="/ppt/slides/slide7.xml" Id="Rccd4bf53de564070" /><Relationship Type="http://schemas.openxmlformats.org/officeDocument/2006/relationships/slide" Target="/ppt/slides/slide8.xml" Id="R5b5bb29aac494009" /><Relationship Type="http://schemas.openxmlformats.org/officeDocument/2006/relationships/slide" Target="/ppt/slides/slide9.xml" Id="R0af844c28e304b71" /><Relationship Type="http://schemas.openxmlformats.org/officeDocument/2006/relationships/slide" Target="/ppt/slides/slide10.xml" Id="R09d4cac2f8de4156" /><Relationship Type="http://schemas.openxmlformats.org/officeDocument/2006/relationships/slide" Target="/ppt/slides/slide11.xml" Id="R541ac9813be34471" /><Relationship Type="http://schemas.openxmlformats.org/officeDocument/2006/relationships/slide" Target="/ppt/slides/slide12.xml" Id="R89f0e2133e6b45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c184234a0e4e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d908f58cc94898" /><Relationship Type="http://schemas.openxmlformats.org/officeDocument/2006/relationships/notesMaster" Target="/ppt/notesMasters/notesMaster1.xml" Id="Rc2da2c739bea49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e7906f0fe543c8" /><Relationship Type="http://schemas.openxmlformats.org/officeDocument/2006/relationships/notesMaster" Target="/ppt/notesMasters/notesMaster1.xml" Id="R5386f38860d047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4670f79b21461d" /><Relationship Type="http://schemas.openxmlformats.org/officeDocument/2006/relationships/notesMaster" Target="/ppt/notesMasters/notesMaster1.xml" Id="Rca219819d2234e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d8daf846ce4f7e" /><Relationship Type="http://schemas.openxmlformats.org/officeDocument/2006/relationships/notesMaster" Target="/ppt/notesMasters/notesMaster1.xml" Id="Rffd1ec444a0345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77a229d3c2466b" /><Relationship Type="http://schemas.openxmlformats.org/officeDocument/2006/relationships/notesMaster" Target="/ppt/notesMasters/notesMaster1.xml" Id="R26b89f67327747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53388cc5c54588" /><Relationship Type="http://schemas.openxmlformats.org/officeDocument/2006/relationships/notesMaster" Target="/ppt/notesMasters/notesMaster1.xml" Id="R30990963030c4e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a82cd25a184974" /><Relationship Type="http://schemas.openxmlformats.org/officeDocument/2006/relationships/notesMaster" Target="/ppt/notesMasters/notesMaster1.xml" Id="R00bb913f43ee48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0be2238b7604061" /><Relationship Type="http://schemas.openxmlformats.org/officeDocument/2006/relationships/notesMaster" Target="/ppt/notesMasters/notesMaster1.xml" Id="R65ea5514276f40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9b37b9b0c74b05" /><Relationship Type="http://schemas.openxmlformats.org/officeDocument/2006/relationships/notesMaster" Target="/ppt/notesMasters/notesMaster1.xml" Id="R6402fc2220674d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89c9b3146a46fc" /><Relationship Type="http://schemas.openxmlformats.org/officeDocument/2006/relationships/notesMaster" Target="/ppt/notesMasters/notesMaster1.xml" Id="R495dccf9641d4e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130cdcbf3e4b0b" /><Relationship Type="http://schemas.openxmlformats.org/officeDocument/2006/relationships/notesMaster" Target="/ppt/notesMasters/notesMaster1.xml" Id="Recf361cf83c449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d2837710aa4ba3" /><Relationship Type="http://schemas.openxmlformats.org/officeDocument/2006/relationships/notesMaster" Target="/ppt/notesMasters/notesMaster1.xml" Id="Ra2e89a21451045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Қайырлы күн, құрметті қазылар алқасы! Qazaq Tenders кәсіпкерге тендердің пайдасын, тәуекелін және қажетті айналым қаражатын алдын ала бағалауға көмектеседі.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Алдымен мәселені көрсетемін, одан кейін жүйенің жұмысын, формулаларын және нақты есептік сценарийді түсіндіремін.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Қазақстанда 2,17 миллион белсенді ШОБ субъектісі бар, ал олардың ЖІӨ-дегі үлесі 40,9 пайыз. Сондықтан мемлекеттік сатып алудағы шешім сапасы экономика үшін маңызды.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Жалпы тендер сомасы кәсіпкердің нақты табысын көрсетпейді. Салық, банк комиссиясы, логистика және төлем мерзімі бірге есептелуі керек.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Пайдаланушы тендерді ашады. Жүйе құжатты оқып, есепті бірден жасайды. Өз жағдайы өзгеше болса, сатып алу бағасын, авансты немесе көлік түрін бір батырмамен өзгертеді.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қабаты құжаттан деректерді шығарады. Ол пайда санын ойдан шығармайды. Барлық ақша көрсеткішін жеке экономикалық қозғалтқыш есептейді.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TOS шешімді төрт өлшем арқылы көрсетеді. Салмақтар бастапқы сараптамалық параметрлер. Кейін оларды аяқталған келісімшарттардың деректерімен калибрлеу қажет.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Жүйе нақты факт пен болжамды мәнді араластырмайды. Confidence Level 95 пайыз болса, бұл деректердің басым бөлігі тексерілгенін білдіреді, экономикалық нәтиженің 95 пайыз дәлдігін емес.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Көлік түрін өзгерткенде логистика шығыны ғана емес, жеткізу мерзімі, кешігу қаупі және ақша ағыны да өзгереді.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Аванссыз автоматты сценарийде пайда 14,55 миллион теңге, бірақ кассалық тапшылық 13,19 миллион теңге. 30 пайыз аванс тапшылықты жойып, TOS көрсеткішін 73,4 балға көтереді.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450 автоматтандырылған тест есептеу қозғалтқышының тұрақтылығын тексереді. Бірақ бұл 95 пайыздық экономикалық болжам дәлелденді деген мәлімдеме емес.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Жүйе кәсіпкердің орнына шешім қабылдамайды. Ол шешімнің салдарын алдын ала көруге мүмкіндік береді. Назарларыңызға рақмет, сұрақтарыңызға жауап беруге дайынмын.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39ad6d9d4d46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c559b65d5fc4c1b" /><Relationship Type="http://schemas.openxmlformats.org/officeDocument/2006/relationships/slideLayout" Target="/ppt/slideLayouts/slideLayout1.xml" Id="R350ade3b830b4b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0ade3b830b4b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3d3b20bedd485f" /><Relationship Type="http://schemas.openxmlformats.org/officeDocument/2006/relationships/notesSlide" Target="/ppt/notesSlides/notesSlide1.xml" Id="R5c1da9790ee0425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da039452834a5b" /><Relationship Type="http://schemas.openxmlformats.org/officeDocument/2006/relationships/notesSlide" Target="/ppt/notesSlides/notesSlide2.xml" Id="R48979953170044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e2c296054430c" /><Relationship Type="http://schemas.openxmlformats.org/officeDocument/2006/relationships/notesSlide" Target="/ppt/notesSlides/notesSlide3.xml" Id="Rc7189b004f724c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12233a7d194e1e" /><Relationship Type="http://schemas.openxmlformats.org/officeDocument/2006/relationships/notesSlide" Target="/ppt/notesSlides/notesSlide4.xml" Id="R6bcd14f033f746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68a9d906643fa" /><Relationship Type="http://schemas.openxmlformats.org/officeDocument/2006/relationships/notesSlide" Target="/ppt/notesSlides/notesSlide5.xml" Id="R9af72bb070b042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065fd78b2b49c4" /><Relationship Type="http://schemas.openxmlformats.org/officeDocument/2006/relationships/notesSlide" Target="/ppt/notesSlides/notesSlide6.xml" Id="Rd15bb264e70d4b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e1a7926bca4955" /><Relationship Type="http://schemas.openxmlformats.org/officeDocument/2006/relationships/notesSlide" Target="/ppt/notesSlides/notesSlide7.xml" Id="R7946acd8aff248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5f3dbe887465a" /><Relationship Type="http://schemas.openxmlformats.org/officeDocument/2006/relationships/notesSlide" Target="/ppt/notesSlides/notesSlide8.xml" Id="R6770d178d84140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f3bdff02046a0" /><Relationship Type="http://schemas.openxmlformats.org/officeDocument/2006/relationships/notesSlide" Target="/ppt/notesSlides/notesSlide9.xml" Id="Rf96fd5f14a67473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79979891b45ae" /><Relationship Type="http://schemas.openxmlformats.org/officeDocument/2006/relationships/chart" Target="/ppt/slides/charts/chart1.xml" Id="Rbdebda356f5d4bba" /><Relationship Type="http://schemas.openxmlformats.org/officeDocument/2006/relationships/notesSlide" Target="/ppt/notesSlides/notesSlide10.xml" Id="R9a98c76c03ef40d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6dc3399ce4eb7" /><Relationship Type="http://schemas.openxmlformats.org/officeDocument/2006/relationships/notesSlide" Target="/ppt/notesSlides/notesSlide11.xml" Id="Reb21ebc0a6e2460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2c407ebe8f4c66" /><Relationship Type="http://schemas.openxmlformats.org/officeDocument/2006/relationships/notesSlide" Target="/ppt/notesSlides/notesSlide12.xml" Id="R6766707872a24f7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TOS</c:v>
          </c:tx>
          <c:spPr>
            <a:solidFill xmlns:a="http://schemas.openxmlformats.org/drawingml/2006/main">
              <a:srgbClr val="5CFF67"/>
            </a:solidFill>
          </c:spPr>
          <c:cat>
            <c:strLit>
              <c:ptCount val="5"/>
              <c:pt idx="0">
                <c:v>Автоматты</c:v>
              </c:pt>
              <c:pt idx="1">
                <c:v>Автофура</c:v>
              </c:pt>
              <c:pt idx="2">
                <c:v>Теміржол</c:v>
              </c:pt>
              <c:pt idx="3">
                <c:v>Авиа</c:v>
              </c:pt>
              <c:pt idx="4">
                <c:v>30% аванс</c:v>
              </c:pt>
            </c:strLit>
          </c:cat>
          <c:val>
            <c:numLit>
              <c:formatCode>General</c:formatCode>
              <c:ptCount val="5"/>
              <c:pt idx="0">
                <c:v>62.7</c:v>
              </c:pt>
              <c:pt idx="1">
                <c:v>60.6</c:v>
              </c:pt>
              <c:pt idx="2">
                <c:v>62</c:v>
              </c:pt>
              <c:pt idx="3">
                <c:v>41.5</c:v>
              </c:pt>
              <c:pt idx="4">
                <c:v>73.4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2BE81-D887-44C6-B6A4-AA608E60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581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QAZAQ</a:t>
            </a:r>
          </a:p>
          <a:p xmlns:a="http://schemas.openxmlformats.org/drawingml/2006/main">
            <a:pPr>
              <a:defRPr sz="49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2FD19-E107-4FB3-8C9A-29125D2D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695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Шағын және орта бизнеске мемлекеттік сатып алудың экономикалық тиімділігін бағалайтын интеллектуалды платформа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F23D8-A0DF-4D46-B045-24CAFF455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35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Нұрали Байбосынов  |  11A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B162D5-0F67-425A-8AA1-B5F58471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www.qazaqtenders.kz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6BA6F-D916-498C-94B2-C53F778E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61975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893658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9BEA1-3C7A-4BD4-9A85-2AF3FCC3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BF32A-DB25-4949-8DC4-C3961614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52FE0-78C7-4123-B41B-C5EC1585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Бүгінгі жоспар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BE2B7-50EC-424A-B559-4067E2FA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233CB-683A-4DE2-9769-BE785571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6287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Өзектілік және мәселе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608D09-875A-4ABF-A7D9-270E4E8D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574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EED39-DBAB-4592-A9E8-207C8FD6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2193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Qazaq Tenders шешімі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910226-EC8B-46E0-90FE-526D6E17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479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DB6C43-BC93-46B1-8F4A-C3686C95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098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Жүйе архитектурасы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4AB657-57D3-4531-9137-98275C1B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BF4E3-8C7A-46B6-8110-D8BA894E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004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Экономикалық модель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BFAEBA-8D38-45DE-879E-AD6BFA7E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290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7F01B7-B966-4832-A6FE-D0622A48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Логистика және жеткізушілер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A31854-AACB-4C03-A672-1797C64F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DAF00A-8D97-44B7-994D-A80A6EFA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58152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Есептік нәтиже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9FA72E-757A-4FAD-8E30-7C99D151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0175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692C9B-7157-44C6-86D4-CFF1EF5E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72075"/>
            <a:ext cx="809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Тексеру және қорытынды</a:t>
            </a:r>
          </a:p>
        </p:txBody>
      </p:sp>
    </p:spTree>
    <p:extLst>
      <p:ext uri="{BB962C8B-B14F-4D97-AF65-F5344CB8AC3E}">
        <p14:creationId xmlns:p14="http://schemas.microsoft.com/office/powerpoint/2010/main" val="1662336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B5503-DA35-44DE-969B-91925B41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62DE7-4289-496B-A749-1FB62194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AEDDC-6EF0-482B-B2E9-6CD593C5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Өзектілік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DCE9F-EE69-43EA-A564-6A67F3EF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2,17 млн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1CD131-DD8C-44FF-A0A8-0BCB0F31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95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Қазақстандағы белсенді ШОБ субъектілері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9FB81B-C27E-4314-9DCE-C146222A6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40,9%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837CA-2F63-4EEE-9532-AD47FA02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71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ШОБ-тың ЖІӨ-дегі үлесі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8DAD2A-AA92-4246-8380-0F3C8ADC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38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Мемлекеттік сатып алу бизнеске үлкен мүмкіндік береді. Бірақ құжаттарды қате түсіну, шығынды толық есептемеу және төлемді күту шағын кәсіпорын үшін нақты қаржылық тәуекел туғызады.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80AF3-F791-4147-8241-CCE41EB4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Дереккөз: ҚР Ұлттық статистика бюросы, 01.01.2026</a:t>
            </a:r>
          </a:p>
        </p:txBody>
      </p:sp>
    </p:spTree>
    <p:extLst>
      <p:ext uri="{BB962C8B-B14F-4D97-AF65-F5344CB8AC3E}">
        <p14:creationId xmlns:p14="http://schemas.microsoft.com/office/powerpoint/2010/main" val="128808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11CE3-F803-4BCB-A654-D7507F1E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63751-2EC7-4BF1-A3D5-A71DA63E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D5018-B1F0-4F24-A437-552C3A7E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Кәсіпкердің негізгі тәуекелдері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87D98-2920-43B0-A15F-542E7F40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8FADE-4A9C-4E35-85D9-59C5A576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0020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Күрделі құжаттар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A2D78-1D3B-4915-9111-E294B115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6700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C2806-8D8A-4D65-9FDC-75BEC024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032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Жасырын шығындар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DD33D-7431-468F-80A4-5AC81B8E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E4982-F5B1-4877-BDBC-F2E9F377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004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Кассалық алшақтық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1D0286-F4BF-4256-B767-9E8B7A3DA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523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3241C-5FC2-4C75-A3EF-80D8358E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00575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Арнайы талаптар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DCBEF8-458C-43F3-86CA-933DF8E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5048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Техникалық ерекшелік пен шарттардан бір маңызды талаптың жоғалуы өтінімнен бас тартуға әкелуі мүмкін. Пайда оң болғанның өзінде айналым капиталы жеткіліксіз болуы ықтимал.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E6CF09-BFA9-4DAF-8E8D-1803DF8F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625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Мәселе: кәсіпкер шешімді толық қаржылық модельсіз қабылдайды</a:t>
            </a:r>
          </a:p>
        </p:txBody>
      </p:sp>
    </p:spTree>
    <p:extLst>
      <p:ext uri="{BB962C8B-B14F-4D97-AF65-F5344CB8AC3E}">
        <p14:creationId xmlns:p14="http://schemas.microsoft.com/office/powerpoint/2010/main" val="20786675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9E28E2-4FE7-4D82-85B5-A20DF777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387F0-70D2-436A-B669-FD7277A1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E3008-4F83-43B9-B37C-7E96F9D8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Qazaq Tenders шешімі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F085C-5F08-4553-B80B-588619C7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4B4CF-B21D-4F98-B3BC-E9AA287A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478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PDF, DOCX және API деректерін талдау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E7836-36CD-48AA-BB4B-785AFD6E3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23E5A-D85C-404E-91BB-14F6AE048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1457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Техникалық ерекшеліктегі арнайы талаптарды бөлек шығару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A7EE1-C8A4-4AE4-B41C-522EBDDF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38B3B1-56EE-4863-9CA7-88191703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813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Пайда, маржа және күнделікті Cash Flow есептеу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11B577-87A9-4935-9ECB-F73FD319A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87ED5-0E83-45F3-A424-EE20D980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4807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Көлік пен жеткізуші сценарийлерін бір батырмамен салыстыру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F59C7-AC71-43AF-8356-0ECC5D01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BADE5A-6E8A-485D-99B4-9FA77F366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14825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Нәтижені 0–100 аралығындағы TOS индексімен түсіндіру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A8CAF1-CD51-450C-9C27-9CB77EFB6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191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17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Пайдаланушы ұзақ форма толтырмайды. Жүйе бастапқы мәндерді өзі ұсынады, ал кәсіпкер оларды бір рет басып түзетеді.</a:t>
            </a:r>
          </a:p>
        </p:txBody>
      </p:sp>
    </p:spTree>
    <p:extLst>
      <p:ext uri="{BB962C8B-B14F-4D97-AF65-F5344CB8AC3E}">
        <p14:creationId xmlns:p14="http://schemas.microsoft.com/office/powerpoint/2010/main" val="1050891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31D352-ACEF-45B3-ABF8-1AB08AC6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9C34A1-6A95-4AF1-95A1-64DE32F9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8682C3-1CD9-42AC-AF1C-DF96A9FD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Екі қабатты архитектура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6635FE-6679-4F1E-9E47-93498AAD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PDF / DOCX /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587FC3-767F-43AA-A014-94EA9FA1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Кіріс деректері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B367E-7314-4941-8D4B-75188825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23837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C7B62B-51B7-4958-B14D-640825FE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431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AI қабаты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E7DD5-C890-4340-8CB1-0F332DF2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Фактілер мен талаптар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9A3EF-1CED-4A60-A8C5-E22F8BD8B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76223-818A-449F-AF79-C8CAE0CC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23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Экономикалық қабат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2219E-1B1E-4082-ABC0-070DD3B9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Формулалар мен күнтізбе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E9CC1F-5425-4DD8-A194-4D352AA1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3837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167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AA3D21-625B-46A8-8A20-423BC42C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39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Веб және Telegram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4710D4-CE7B-4B6B-93B5-648CAC54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Түсіндірілетін нәтиже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70592-AEEB-45C0-A0B9-47D71E01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66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AI құжатты түсінеді. Экономикалық қабат есепті детерминирленген формулалармен жүргізеді.</a:t>
            </a:r>
          </a:p>
        </p:txBody>
      </p:sp>
    </p:spTree>
    <p:extLst>
      <p:ext uri="{BB962C8B-B14F-4D97-AF65-F5344CB8AC3E}">
        <p14:creationId xmlns:p14="http://schemas.microsoft.com/office/powerpoint/2010/main" val="5821022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2240BA-84BB-4016-BC4E-BAC79B21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D5A2F9-D12B-47D4-B77A-DEA03FBD3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84B082-1AEC-4F4E-BBBE-56A797E4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Экономикалық модель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3E1CC-7E0C-4539-AC04-0CF2BB4D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Profit = S − (Cpurchase + Clogistics + Ctax + Cbank + Coperation + Cpenalty)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4431E1-1BB6-411C-92D5-4D9999D00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TOS = 0,35 × Margin + 0,30 × Cash Flow + 0,15 × Logistics + 0,20 × Legal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546B7F-5E37-4249-8670-FD8A7238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81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35%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79504-CA57-464E-8404-633CD060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Маржа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CCADB-F3A7-405A-BC70-6AB75375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81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30%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9489A-61E2-4F72-9FD1-4483CA70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50482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Cash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0B7799-C43A-475F-813C-BC163F5E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81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15%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5C6CF-F10B-403B-85AB-08297276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482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Логистика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5A383-7C53-4135-952F-E3B7CD43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381500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442D0-D419-4EEF-BAB3-560F6B7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48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Құқықтық тәуекел</a:t>
            </a:r>
          </a:p>
        </p:txBody>
      </p:sp>
    </p:spTree>
    <p:extLst>
      <p:ext uri="{BB962C8B-B14F-4D97-AF65-F5344CB8AC3E}">
        <p14:creationId xmlns:p14="http://schemas.microsoft.com/office/powerpoint/2010/main" val="1422390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62CC05-2F6F-4365-8506-7316E8A9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F65EC-3423-4943-B68D-DEA07439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67D0F-9B00-4F07-92F0-CEC3DB0F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Smart Defaults және дерек сенімділігі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857250" y="1762125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3492500"/>
                <a:gridCol w="3492500"/>
              </a:tblGrid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5CFF6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Дерек белгісі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5CFF6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Мағынасы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575" b="1">
                          <a:solidFill>
                            <a:srgbClr val="5CFF6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Сенімділік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Document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Тендер құжатындағы нақты факт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Жоғары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Supplier API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Серіктестен алынған баға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Жоғары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Smart Default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Санаттық бастапқы бағалау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Орташа</a:t>
                      </a:r>
                    </a:p>
                  </a:txBody>
                  <a:tcPr marL="91440" marR="91440" marT="45720" marB="45720"/>
                </a:tc>
              </a:tr>
              <a:tr h="6096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User Verified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Пайдаланушы растаған мән</a:t>
                      </a:r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FFFFF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Жоғары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BB5993-0C59-4135-948C-A3A1EAFF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34000"/>
            <a:ext cx="1038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98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Confidence Level болжам дәлдігі емес. Ол кіріс деректерінің қаншасы расталғанын көрсетеді.</a:t>
            </a:r>
          </a:p>
        </p:txBody>
      </p:sp>
    </p:spTree>
    <p:extLst>
      <p:ext uri="{BB962C8B-B14F-4D97-AF65-F5344CB8AC3E}">
        <p14:creationId xmlns:p14="http://schemas.microsoft.com/office/powerpoint/2010/main" val="11491765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AC8B91-3302-4E85-A48F-0ACA862E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A6539-D2C5-4533-BF15-94A0D2BC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DEE0C-61C4-4AEE-883B-59245150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Логистика және жеткізушілер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60653-5165-40A9-AE39-858EE02FF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Газель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B692D9-61B5-4C91-B3E3-4EF2DA38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097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Автофура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B6D7E-B312-47E2-9FB1-C663AB25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8097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Теміржол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EBBA04-E59D-4509-BB89-2992E518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09750"/>
            <a:ext cx="2333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Авиа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E4950-1B52-45DC-82B5-9FF420A2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8168A-6B3C-4899-BDE6-D5FDAF7B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Қала мен салмаққа сәйкес көлік тарифі есептеледі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45575-6D99-4ABA-85A7-7322A1B5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19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C6153-2B9F-4ED0-877C-76D7B825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Көлік ауысқанда пайда, мерзім және TOS қайта есептеледі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ED78D-C7B4-42B2-8547-4DA79D51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86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EFBE1-CADD-40D1-9B29-025D956B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Жеткізуші бағасы, қаласы, байланысы және сертификаты көрсетіледі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DF3A56-1FBB-416D-AC4E-87FB184C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Нақты API дерегі Verified, ал мысал каталог міндетті түрде DEMO деп белгіленеді.</a:t>
            </a:r>
          </a:p>
        </p:txBody>
      </p:sp>
    </p:spTree>
    <p:extLst>
      <p:ext uri="{BB962C8B-B14F-4D97-AF65-F5344CB8AC3E}">
        <p14:creationId xmlns:p14="http://schemas.microsoft.com/office/powerpoint/2010/main" val="13071864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2FDA3-7269-4C53-81F3-C910CD08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71513-159A-4ED2-9701-D0EF5932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CC028-F9E2-4AFE-AB5C-5D14A3AF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84 млн ₸ лот бойынша сценарий</a:t>
            </a:r>
          </a:p>
        </p:txBody>
      </p:sp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65722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ebda356f5d4bb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BE3CE-DAEC-4604-A3CE-7CC2431A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73,4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3C26DF-1FAE-4B8A-9E5E-439BD16E4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TOS, 30% аванс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339AC-5AE5-4472-9CFB-9EEAC489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67125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14,81 млн 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17943-EB42-484D-BC04-1C65565B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338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таза пайда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E3337-18E8-4619-A75C-BF28F1BCD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095875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BFFFC5"/>
                </a:solidFill>
                <a:latin typeface="Helvetica Neue"/>
                <a:ea typeface="Helvetica Neue"/>
                <a:cs typeface="Helvetica Neue"/>
              </a:rPr>
              <a:t>Кассалық алшақтық жоқ</a:t>
            </a:r>
          </a:p>
        </p:txBody>
      </p:sp>
    </p:spTree>
    <p:extLst>
      <p:ext uri="{BB962C8B-B14F-4D97-AF65-F5344CB8AC3E}">
        <p14:creationId xmlns:p14="http://schemas.microsoft.com/office/powerpoint/2010/main" val="18491030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BAD9FC-5BAB-4E75-BDA5-A1D1FB28B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7EDEB-5AE5-4447-9BBD-605E32389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B91C6-8192-4178-9192-41C54BA6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Бағдарламалық тексеру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46CC1-7509-4AAE-88AA-E8EFE1EB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450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5FC97-62F0-41C2-B909-56DC874A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автоматтандырылған тест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619DEC-4A59-4185-917F-AB80B652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540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210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2A6C16-71AC-4CC4-B586-A3DCBF4E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05125"/>
            <a:ext cx="419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веб және Python паритет сценарийі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32669E-8D7F-45E5-95EE-BF1024128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D2D62A-4E45-4098-80EA-4CB85A37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Негізгі формулалар қайталанатын нәтиже береді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777ED6-0E8B-4465-9897-B9271B7D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05479-30EE-48C2-8056-820D5370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43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Нақты және болжамды деректер бөлек таңбаланады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C20E7-E703-4F57-BBD9-2D251700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1038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52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D166"/>
                </a:solidFill>
                <a:latin typeface="Helvetica Neue"/>
                <a:ea typeface="Helvetica Neue"/>
                <a:cs typeface="Helvetica Neue"/>
              </a:rPr>
              <a:t>Бұл тексерулер кодтың тұрақтылығын растайды. Нарықтық болжам дәлдігін бөлек пилоттық зерттеу бағалайды.</a:t>
            </a:r>
          </a:p>
        </p:txBody>
      </p:sp>
    </p:spTree>
    <p:extLst>
      <p:ext uri="{BB962C8B-B14F-4D97-AF65-F5344CB8AC3E}">
        <p14:creationId xmlns:p14="http://schemas.microsoft.com/office/powerpoint/2010/main" val="9147635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4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00C59C-ACEF-48BF-9CDA-6EEA98E8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Qazaq Tenders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FABBF7-BE07-4E59-89E4-9E116EE4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A8B8B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3BD7F0-D2A7-4849-81A0-EB20ACBC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4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Қорытынды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258B9-B4E7-436B-AB97-14EB4F00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Qazaq Tenders кәсіпкерге тендердің пайдасын ғана емес, оған жету үшін қажет ақша мен тәуекелді де алдын ала көрсетеді.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E7F7E8-1CE7-45AF-BA16-B52D7ACD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D0EA8-A69C-4AAE-8081-2A7666A4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957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Құжаттағы маңызды талаптар жоғалмайды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5C1F1-EAB5-4113-AC4B-5FF0DA416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8150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83B1B-4896-4964-AB83-533AE483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624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Қаржылық нәтиже ашық формуламен есептеледі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0AC85-B936-4DC5-B62F-EA83C463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98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05165-87FE-424C-9DA4-6171DF37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292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8"/>
                </a:solidFill>
                <a:latin typeface="Helvetica Neue"/>
                <a:ea typeface="Helvetica Neue"/>
                <a:cs typeface="Helvetica Neue"/>
              </a:rPr>
              <a:t>Сценарийлер бір батырмамен салыстырылады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13C86-21BF-4327-A61B-9C116A54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5312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5CFF67"/>
                </a:solidFill>
                <a:latin typeface="Helvetica Neue"/>
                <a:ea typeface="Helvetica Neue"/>
                <a:cs typeface="Helvetica Neue"/>
              </a:rPr>
              <a:t>Назарларыңызға рақмет</a:t>
            </a:r>
          </a:p>
        </p:txBody>
      </p:sp>
    </p:spTree>
    <p:extLst>
      <p:ext uri="{BB962C8B-B14F-4D97-AF65-F5344CB8AC3E}">
        <p14:creationId xmlns:p14="http://schemas.microsoft.com/office/powerpoint/2010/main" val="75835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2026-09-13T20:41:27.8380000Z</dcterms:created>
  <dcterms:modified xsi:type="dcterms:W3CDTF">2026-09-13T20:41:27.8380000Z</dcterms:modified>
</coreProperties>
</file>